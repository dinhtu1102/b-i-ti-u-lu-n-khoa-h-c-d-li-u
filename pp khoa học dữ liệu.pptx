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media/image2.svg" ContentType="image/svg+xml"/>
  <Override PartName="/ppt/media/image20.svg" ContentType="image/svg+xml"/>
  <Override PartName="/ppt/media/image24.svg" ContentType="image/svg+xml"/>
  <Override PartName="/ppt/media/image2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8"/>
  </p:notesMasterIdLst>
  <p:sldIdLst>
    <p:sldId id="256" r:id="rId3"/>
    <p:sldId id="257" r:id="rId4"/>
    <p:sldId id="258" r:id="rId5"/>
    <p:sldId id="261" r:id="rId6"/>
    <p:sldId id="263" r:id="rId7"/>
    <p:sldId id="265" r:id="rId9"/>
    <p:sldId id="266" r:id="rId10"/>
    <p:sldId id="267" r:id="rId11"/>
    <p:sldId id="268" r:id="rId12"/>
    <p:sldId id="271" r:id="rId13"/>
    <p:sldId id="272" r:id="rId14"/>
    <p:sldId id="269" r:id="rId15"/>
    <p:sldId id="275" r:id="rId16"/>
    <p:sldId id="270" r:id="rId17"/>
    <p:sldId id="273" r:id="rId18"/>
    <p:sldId id="277" r:id="rId19"/>
  </p:sldIdLst>
  <p:sldSz cx="18288000" cy="10287000"/>
  <p:notesSz cx="6858000" cy="9144000"/>
  <p:embeddedFontLst>
    <p:embeddedFont>
      <p:font typeface="Calibri" panose="020F0502020204030204" charset="0"/>
      <p:regular r:id="rId23"/>
      <p:bold r:id="rId24"/>
      <p:italic r:id="rId25"/>
      <p:boldItalic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0" userDrawn="1">
          <p15:clr>
            <a:srgbClr val="A4A3A4"/>
          </p15:clr>
        </p15:guide>
        <p15:guide id="2" pos="285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varScale="1">
        <p:scale>
          <a:sx n="74" d="100"/>
          <a:sy n="74" d="100"/>
        </p:scale>
        <p:origin x="-1092" y="-90"/>
      </p:cViewPr>
      <p:guideLst>
        <p:guide orient="horz" pos="2150"/>
        <p:guide pos="2856"/>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notesMaster" Target="notesMasters/notesMaster1.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6" Type="http://schemas.openxmlformats.org/officeDocument/2006/relationships/font" Target="fonts/font4.fntdata"/><Relationship Id="rId25" Type="http://schemas.openxmlformats.org/officeDocument/2006/relationships/font" Target="fonts/font3.fntdata"/><Relationship Id="rId24" Type="http://schemas.openxmlformats.org/officeDocument/2006/relationships/font" Target="fonts/font2.fntdata"/><Relationship Id="rId23" Type="http://schemas.openxmlformats.org/officeDocument/2006/relationships/font" Target="fonts/font1.fntdata"/><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sv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3.png"/><Relationship Id="rId1"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8.png"/><Relationship Id="rId1" Type="http://schemas.openxmlformats.org/officeDocument/2006/relationships/image" Target="../media/image17.png"/></Relationships>
</file>

<file path=ppt/slides/_rels/slide16.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6.svg"/><Relationship Id="rId7" Type="http://schemas.openxmlformats.org/officeDocument/2006/relationships/image" Target="../media/image25.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png"/><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6DFCC"/>
        </a:solidFill>
        <a:effectLst/>
      </p:bgPr>
    </p:bg>
    <p:spTree>
      <p:nvGrpSpPr>
        <p:cNvPr id="1" name=""/>
        <p:cNvGrpSpPr/>
        <p:nvPr/>
      </p:nvGrpSpPr>
      <p:grpSpPr>
        <a:xfrm>
          <a:off x="0" y="0"/>
          <a:ext cx="0" cy="0"/>
          <a:chOff x="0" y="0"/>
          <a:chExt cx="0" cy="0"/>
        </a:xfrm>
      </p:grpSpPr>
      <p:grpSp>
        <p:nvGrpSpPr>
          <p:cNvPr id="2" name="Group 2"/>
          <p:cNvGrpSpPr/>
          <p:nvPr/>
        </p:nvGrpSpPr>
        <p:grpSpPr>
          <a:xfrm rot="0">
            <a:off x="661430" y="637936"/>
            <a:ext cx="16927040" cy="9035258"/>
            <a:chOff x="0" y="0"/>
            <a:chExt cx="126402652" cy="67470777"/>
          </a:xfrm>
        </p:grpSpPr>
        <p:sp>
          <p:nvSpPr>
            <p:cNvPr id="3" name="Freeform 3"/>
            <p:cNvSpPr/>
            <p:nvPr/>
          </p:nvSpPr>
          <p:spPr>
            <a:xfrm>
              <a:off x="72390" y="72390"/>
              <a:ext cx="126257871" cy="67325995"/>
            </a:xfrm>
            <a:custGeom>
              <a:avLst/>
              <a:gdLst/>
              <a:ahLst/>
              <a:cxnLst/>
              <a:rect l="l" t="t" r="r" b="b"/>
              <a:pathLst>
                <a:path w="126257871" h="67325995">
                  <a:moveTo>
                    <a:pt x="0" y="0"/>
                  </a:moveTo>
                  <a:lnTo>
                    <a:pt x="126257871" y="0"/>
                  </a:lnTo>
                  <a:lnTo>
                    <a:pt x="126257871" y="67325995"/>
                  </a:lnTo>
                  <a:lnTo>
                    <a:pt x="0" y="67325995"/>
                  </a:lnTo>
                  <a:lnTo>
                    <a:pt x="0" y="0"/>
                  </a:lnTo>
                  <a:close/>
                </a:path>
              </a:pathLst>
            </a:custGeom>
            <a:solidFill>
              <a:srgbClr val="FFF5ED"/>
            </a:solidFill>
          </p:spPr>
          <p:txBody>
            <a:bodyPr/>
            <a:p>
              <a:endParaRPr lang="en-US"/>
            </a:p>
          </p:txBody>
        </p:sp>
        <p:sp>
          <p:nvSpPr>
            <p:cNvPr id="4" name="Freeform 4"/>
            <p:cNvSpPr/>
            <p:nvPr/>
          </p:nvSpPr>
          <p:spPr>
            <a:xfrm>
              <a:off x="0" y="0"/>
              <a:ext cx="126402654" cy="67470778"/>
            </a:xfrm>
            <a:custGeom>
              <a:avLst/>
              <a:gdLst/>
              <a:ahLst/>
              <a:cxnLst/>
              <a:rect l="l" t="t" r="r" b="b"/>
              <a:pathLst>
                <a:path w="126402654" h="67470778">
                  <a:moveTo>
                    <a:pt x="126257869" y="67325999"/>
                  </a:moveTo>
                  <a:lnTo>
                    <a:pt x="126402654" y="67325999"/>
                  </a:lnTo>
                  <a:lnTo>
                    <a:pt x="126402654" y="67470778"/>
                  </a:lnTo>
                  <a:lnTo>
                    <a:pt x="126257869" y="67470778"/>
                  </a:lnTo>
                  <a:lnTo>
                    <a:pt x="126257869" y="67325999"/>
                  </a:lnTo>
                  <a:close/>
                  <a:moveTo>
                    <a:pt x="0" y="144780"/>
                  </a:moveTo>
                  <a:lnTo>
                    <a:pt x="144780" y="144780"/>
                  </a:lnTo>
                  <a:lnTo>
                    <a:pt x="144780" y="67325999"/>
                  </a:lnTo>
                  <a:lnTo>
                    <a:pt x="0" y="67325999"/>
                  </a:lnTo>
                  <a:lnTo>
                    <a:pt x="0" y="144780"/>
                  </a:lnTo>
                  <a:close/>
                  <a:moveTo>
                    <a:pt x="0" y="67325999"/>
                  </a:moveTo>
                  <a:lnTo>
                    <a:pt x="144780" y="67325999"/>
                  </a:lnTo>
                  <a:lnTo>
                    <a:pt x="144780" y="67470778"/>
                  </a:lnTo>
                  <a:lnTo>
                    <a:pt x="0" y="67470778"/>
                  </a:lnTo>
                  <a:lnTo>
                    <a:pt x="0" y="67325999"/>
                  </a:lnTo>
                  <a:close/>
                  <a:moveTo>
                    <a:pt x="126257869" y="144780"/>
                  </a:moveTo>
                  <a:lnTo>
                    <a:pt x="126402654" y="144780"/>
                  </a:lnTo>
                  <a:lnTo>
                    <a:pt x="126402654" y="67325999"/>
                  </a:lnTo>
                  <a:lnTo>
                    <a:pt x="126257869" y="67325999"/>
                  </a:lnTo>
                  <a:lnTo>
                    <a:pt x="126257869" y="144780"/>
                  </a:lnTo>
                  <a:close/>
                  <a:moveTo>
                    <a:pt x="144780" y="67325999"/>
                  </a:moveTo>
                  <a:lnTo>
                    <a:pt x="126257869" y="67325999"/>
                  </a:lnTo>
                  <a:lnTo>
                    <a:pt x="126257869" y="67470778"/>
                  </a:lnTo>
                  <a:lnTo>
                    <a:pt x="144780" y="67470778"/>
                  </a:lnTo>
                  <a:lnTo>
                    <a:pt x="144780" y="67325999"/>
                  </a:lnTo>
                  <a:close/>
                  <a:moveTo>
                    <a:pt x="126257869" y="0"/>
                  </a:moveTo>
                  <a:lnTo>
                    <a:pt x="126402654" y="0"/>
                  </a:lnTo>
                  <a:lnTo>
                    <a:pt x="126402654" y="144780"/>
                  </a:lnTo>
                  <a:lnTo>
                    <a:pt x="126257869" y="144780"/>
                  </a:lnTo>
                  <a:lnTo>
                    <a:pt x="126257869" y="0"/>
                  </a:lnTo>
                  <a:close/>
                  <a:moveTo>
                    <a:pt x="0" y="0"/>
                  </a:moveTo>
                  <a:lnTo>
                    <a:pt x="144780" y="0"/>
                  </a:lnTo>
                  <a:lnTo>
                    <a:pt x="144780" y="144780"/>
                  </a:lnTo>
                  <a:lnTo>
                    <a:pt x="0" y="144780"/>
                  </a:lnTo>
                  <a:lnTo>
                    <a:pt x="0" y="0"/>
                  </a:lnTo>
                  <a:close/>
                  <a:moveTo>
                    <a:pt x="144780" y="0"/>
                  </a:moveTo>
                  <a:lnTo>
                    <a:pt x="126257869" y="0"/>
                  </a:lnTo>
                  <a:lnTo>
                    <a:pt x="126257869" y="144780"/>
                  </a:lnTo>
                  <a:lnTo>
                    <a:pt x="144780" y="144780"/>
                  </a:lnTo>
                  <a:lnTo>
                    <a:pt x="144780" y="0"/>
                  </a:lnTo>
                  <a:close/>
                </a:path>
              </a:pathLst>
            </a:custGeom>
            <a:solidFill>
              <a:srgbClr val="000000"/>
            </a:solidFill>
          </p:spPr>
        </p:sp>
      </p:grpSp>
      <p:sp>
        <p:nvSpPr>
          <p:cNvPr id="11" name="Freeform 11" descr="minimal lined geometric icon logo"/>
          <p:cNvSpPr/>
          <p:nvPr/>
        </p:nvSpPr>
        <p:spPr>
          <a:xfrm>
            <a:off x="1280967" y="1105040"/>
            <a:ext cx="620290" cy="713722"/>
          </a:xfrm>
          <a:custGeom>
            <a:avLst/>
            <a:gdLst/>
            <a:ahLst/>
            <a:cxnLst/>
            <a:rect l="l" t="t" r="r" b="b"/>
            <a:pathLst>
              <a:path w="620290" h="713722">
                <a:moveTo>
                  <a:pt x="0" y="0"/>
                </a:moveTo>
                <a:lnTo>
                  <a:pt x="620290" y="0"/>
                </a:lnTo>
                <a:lnTo>
                  <a:pt x="620290" y="713722"/>
                </a:lnTo>
                <a:lnTo>
                  <a:pt x="0" y="713722"/>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13" name="AutoShape 13"/>
          <p:cNvSpPr/>
          <p:nvPr/>
        </p:nvSpPr>
        <p:spPr>
          <a:xfrm rot="4836">
            <a:off x="651262" y="2793128"/>
            <a:ext cx="16927056" cy="0"/>
          </a:xfrm>
          <a:prstGeom prst="line">
            <a:avLst/>
          </a:prstGeom>
          <a:ln w="19050" cap="flat">
            <a:solidFill>
              <a:srgbClr val="000000"/>
            </a:solidFill>
            <a:prstDash val="solid"/>
            <a:headEnd type="none" w="sm" len="sm"/>
            <a:tailEnd type="none" w="sm" len="sm"/>
          </a:ln>
        </p:spPr>
      </p:sp>
      <p:sp>
        <p:nvSpPr>
          <p:cNvPr id="14" name="Text Box 13"/>
          <p:cNvSpPr txBox="1"/>
          <p:nvPr/>
        </p:nvSpPr>
        <p:spPr>
          <a:xfrm>
            <a:off x="671830" y="1259840"/>
            <a:ext cx="16887190" cy="922020"/>
          </a:xfrm>
          <a:prstGeom prst="rect">
            <a:avLst/>
          </a:prstGeom>
          <a:noFill/>
        </p:spPr>
        <p:txBody>
          <a:bodyPr wrap="square" rtlCol="0">
            <a:spAutoFit/>
          </a:bodyPr>
          <a:p>
            <a:pPr algn="ctr"/>
            <a:r>
              <a:rPr lang="en-US" sz="5400" b="1">
                <a:solidFill>
                  <a:schemeClr val="tx2"/>
                </a:solidFill>
                <a:latin typeface="Times New Roman" panose="02020603050405020304" charset="0"/>
                <a:cs typeface="Times New Roman" panose="02020603050405020304" charset="0"/>
                <a:sym typeface="+mn-ea"/>
              </a:rPr>
              <a:t>BÀI TẬP LỚN KHOA HỌC DỮ LIỆU</a:t>
            </a:r>
            <a:endParaRPr lang="en-US" sz="5400" b="1">
              <a:solidFill>
                <a:schemeClr val="tx2"/>
              </a:solidFill>
              <a:latin typeface="Times New Roman" panose="02020603050405020304" charset="0"/>
              <a:cs typeface="Times New Roman" panose="02020603050405020304" charset="0"/>
              <a:sym typeface="+mn-ea"/>
            </a:endParaRPr>
          </a:p>
        </p:txBody>
      </p:sp>
      <p:sp>
        <p:nvSpPr>
          <p:cNvPr id="15" name="Text Box 14"/>
          <p:cNvSpPr txBox="1"/>
          <p:nvPr/>
        </p:nvSpPr>
        <p:spPr>
          <a:xfrm>
            <a:off x="609600" y="3543300"/>
            <a:ext cx="16934180" cy="645160"/>
          </a:xfrm>
          <a:prstGeom prst="rect">
            <a:avLst/>
          </a:prstGeom>
          <a:noFill/>
        </p:spPr>
        <p:txBody>
          <a:bodyPr wrap="square" rtlCol="0">
            <a:spAutoFit/>
          </a:bodyPr>
          <a:p>
            <a:pPr algn="ctr"/>
            <a:r>
              <a:rPr lang="en-US" sz="3600" b="1">
                <a:solidFill>
                  <a:schemeClr val="tx2"/>
                </a:solidFill>
                <a:latin typeface="Times New Roman" panose="02020603050405020304" charset="0"/>
                <a:cs typeface="Times New Roman" panose="02020603050405020304" charset="0"/>
              </a:rPr>
              <a:t>ĐỀ BÀI: </a:t>
            </a:r>
            <a:r>
              <a:rPr lang="en-US" altLang="en-US" sz="3600" b="1">
                <a:solidFill>
                  <a:schemeClr val="tx2"/>
                </a:solidFill>
                <a:latin typeface="Times New Roman" panose="02020603050405020304" charset="0"/>
                <a:cs typeface="Times New Roman" panose="02020603050405020304" charset="0"/>
              </a:rPr>
              <a:t>Phân tích xu h</a:t>
            </a:r>
            <a:r>
              <a:rPr lang="en-US" altLang="en-US" sz="3600" b="1">
                <a:solidFill>
                  <a:schemeClr val="tx2"/>
                </a:solidFill>
                <a:latin typeface="Times New Roman" panose="02020603050405020304" charset="0"/>
                <a:cs typeface="Times New Roman" panose="02020603050405020304" charset="0"/>
              </a:rPr>
              <a:t>ư</a:t>
            </a:r>
            <a:r>
              <a:rPr lang="en-US" altLang="en-US" sz="3600" b="1">
                <a:solidFill>
                  <a:schemeClr val="tx2"/>
                </a:solidFill>
                <a:latin typeface="Times New Roman" panose="02020603050405020304" charset="0"/>
                <a:cs typeface="Times New Roman" panose="02020603050405020304" charset="0"/>
              </a:rPr>
              <a:t>ớng tuyển dụng ngành CNTT tại Việt Nam</a:t>
            </a:r>
            <a:endParaRPr lang="en-US" altLang="en-US" sz="3600" b="1">
              <a:solidFill>
                <a:schemeClr val="tx2"/>
              </a:solidFill>
              <a:latin typeface="Times New Roman" panose="02020603050405020304" charset="0"/>
              <a:cs typeface="Times New Roman" panose="02020603050405020304" charset="0"/>
            </a:endParaRPr>
          </a:p>
        </p:txBody>
      </p:sp>
      <p:sp>
        <p:nvSpPr>
          <p:cNvPr id="16" name="Text Box 15"/>
          <p:cNvSpPr txBox="1"/>
          <p:nvPr/>
        </p:nvSpPr>
        <p:spPr>
          <a:xfrm>
            <a:off x="690245" y="4810125"/>
            <a:ext cx="16897985" cy="521970"/>
          </a:xfrm>
          <a:prstGeom prst="rect">
            <a:avLst/>
          </a:prstGeom>
          <a:noFill/>
        </p:spPr>
        <p:txBody>
          <a:bodyPr wrap="square" rtlCol="0">
            <a:spAutoFit/>
          </a:bodyPr>
          <a:p>
            <a:pPr algn="ctr"/>
            <a:r>
              <a:rPr lang="en-US" altLang="en-US" sz="2800" b="1">
                <a:solidFill>
                  <a:schemeClr val="tx2"/>
                </a:solidFill>
                <a:latin typeface="Times New Roman" panose="02020603050405020304" charset="0"/>
                <a:cs typeface="Times New Roman" panose="02020603050405020304" charset="0"/>
              </a:rPr>
              <a:t>Giảng viên h</a:t>
            </a:r>
            <a:r>
              <a:rPr lang="en-US" altLang="en-US" sz="2800" b="1">
                <a:solidFill>
                  <a:schemeClr val="tx2"/>
                </a:solidFill>
                <a:latin typeface="Times New Roman" panose="02020603050405020304" charset="0"/>
                <a:cs typeface="Times New Roman" panose="02020603050405020304" charset="0"/>
              </a:rPr>
              <a:t>ư</a:t>
            </a:r>
            <a:r>
              <a:rPr lang="en-US" altLang="en-US" sz="2800" b="1">
                <a:solidFill>
                  <a:schemeClr val="tx2"/>
                </a:solidFill>
                <a:latin typeface="Times New Roman" panose="02020603050405020304" charset="0"/>
                <a:cs typeface="Times New Roman" panose="02020603050405020304" charset="0"/>
              </a:rPr>
              <a:t>ớng dẫn: Nguyễn V</a:t>
            </a:r>
            <a:r>
              <a:rPr lang="en-US" altLang="en-US" sz="2800" b="1">
                <a:solidFill>
                  <a:schemeClr val="tx2"/>
                </a:solidFill>
                <a:latin typeface="Times New Roman" panose="02020603050405020304" charset="0"/>
                <a:cs typeface="Times New Roman" panose="02020603050405020304" charset="0"/>
              </a:rPr>
              <a:t>ă</a:t>
            </a:r>
            <a:r>
              <a:rPr lang="en-US" altLang="en-US" sz="2800" b="1">
                <a:solidFill>
                  <a:schemeClr val="tx2"/>
                </a:solidFill>
                <a:latin typeface="Times New Roman" panose="02020603050405020304" charset="0"/>
                <a:cs typeface="Times New Roman" panose="02020603050405020304" charset="0"/>
              </a:rPr>
              <a:t>n Huy</a:t>
            </a:r>
            <a:endParaRPr lang="en-US" altLang="en-US" sz="2800" b="1">
              <a:solidFill>
                <a:schemeClr val="tx2"/>
              </a:solidFill>
              <a:latin typeface="Times New Roman" panose="02020603050405020304" charset="0"/>
              <a:cs typeface="Times New Roman" panose="02020603050405020304" charset="0"/>
            </a:endParaRPr>
          </a:p>
        </p:txBody>
      </p:sp>
      <p:sp>
        <p:nvSpPr>
          <p:cNvPr id="17" name="Text Box 16"/>
          <p:cNvSpPr txBox="1"/>
          <p:nvPr/>
        </p:nvSpPr>
        <p:spPr>
          <a:xfrm>
            <a:off x="661670" y="5676900"/>
            <a:ext cx="16927195" cy="521970"/>
          </a:xfrm>
          <a:prstGeom prst="rect">
            <a:avLst/>
          </a:prstGeom>
          <a:noFill/>
        </p:spPr>
        <p:txBody>
          <a:bodyPr wrap="square" rtlCol="0">
            <a:spAutoFit/>
          </a:bodyPr>
          <a:p>
            <a:pPr algn="ctr"/>
            <a:r>
              <a:rPr lang="en-US" sz="2800" b="1">
                <a:solidFill>
                  <a:schemeClr val="tx2"/>
                </a:solidFill>
                <a:latin typeface="Times New Roman" panose="02020603050405020304" charset="0"/>
                <a:cs typeface="Times New Roman" panose="02020603050405020304" charset="0"/>
              </a:rPr>
              <a:t>Sinh viên thực hiện: Nguyễn Đình Tú</a:t>
            </a:r>
            <a:endParaRPr lang="en-US" sz="2800" b="1">
              <a:solidFill>
                <a:schemeClr val="tx2"/>
              </a:solidFill>
              <a:latin typeface="Times New Roman" panose="02020603050405020304" charset="0"/>
              <a:cs typeface="Times New Roman" panose="02020603050405020304" charset="0"/>
            </a:endParaRPr>
          </a:p>
        </p:txBody>
      </p:sp>
      <p:sp>
        <p:nvSpPr>
          <p:cNvPr id="18" name="Text Box 17"/>
          <p:cNvSpPr txBox="1"/>
          <p:nvPr/>
        </p:nvSpPr>
        <p:spPr>
          <a:xfrm>
            <a:off x="-18415" y="6438900"/>
            <a:ext cx="18306415" cy="521970"/>
          </a:xfrm>
          <a:prstGeom prst="rect">
            <a:avLst/>
          </a:prstGeom>
          <a:noFill/>
        </p:spPr>
        <p:txBody>
          <a:bodyPr wrap="square" rtlCol="0">
            <a:spAutoFit/>
          </a:bodyPr>
          <a:p>
            <a:pPr algn="ctr"/>
            <a:r>
              <a:rPr lang="en-US" sz="2800" b="1">
                <a:solidFill>
                  <a:schemeClr val="tx2"/>
                </a:solidFill>
                <a:latin typeface="Times New Roman" panose="02020603050405020304" charset="0"/>
                <a:cs typeface="Times New Roman" panose="02020603050405020304" charset="0"/>
              </a:rPr>
              <a:t>Mssv: K225480106067</a:t>
            </a:r>
            <a:endParaRPr lang="en-US" sz="2800" b="1">
              <a:solidFill>
                <a:schemeClr val="tx2"/>
              </a:solidFill>
              <a:latin typeface="Times New Roman" panose="02020603050405020304" charset="0"/>
              <a:cs typeface="Times New Roman" panose="02020603050405020304" charset="0"/>
            </a:endParaRPr>
          </a:p>
        </p:txBody>
      </p:sp>
      <p:sp>
        <p:nvSpPr>
          <p:cNvPr id="19" name="Text Box 18"/>
          <p:cNvSpPr txBox="1"/>
          <p:nvPr/>
        </p:nvSpPr>
        <p:spPr>
          <a:xfrm>
            <a:off x="47625" y="7124700"/>
            <a:ext cx="18272760" cy="521970"/>
          </a:xfrm>
          <a:prstGeom prst="rect">
            <a:avLst/>
          </a:prstGeom>
          <a:noFill/>
        </p:spPr>
        <p:txBody>
          <a:bodyPr wrap="square" rtlCol="0">
            <a:spAutoFit/>
          </a:bodyPr>
          <a:p>
            <a:pPr algn="ctr"/>
            <a:r>
              <a:rPr lang="en-US" sz="2800" b="1">
                <a:solidFill>
                  <a:schemeClr val="tx2"/>
                </a:solidFill>
                <a:latin typeface="Times New Roman" panose="02020603050405020304" charset="0"/>
                <a:cs typeface="Times New Roman" panose="02020603050405020304" charset="0"/>
              </a:rPr>
              <a:t>Lớp K58KTP</a:t>
            </a:r>
            <a:endParaRPr lang="en-US" sz="2800" b="1">
              <a:solidFill>
                <a:schemeClr val="tx2"/>
              </a:solidFill>
              <a:latin typeface="Times New Roman" panose="02020603050405020304" charset="0"/>
              <a:cs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B9BBDD"/>
        </a:solidFill>
        <a:effectLst/>
      </p:bgPr>
    </p:bg>
    <p:spTree>
      <p:nvGrpSpPr>
        <p:cNvPr id="1" name=""/>
        <p:cNvGrpSpPr/>
        <p:nvPr/>
      </p:nvGrpSpPr>
      <p:grpSpPr>
        <a:xfrm>
          <a:off x="0" y="0"/>
          <a:ext cx="0" cy="0"/>
          <a:chOff x="0" y="0"/>
          <a:chExt cx="0" cy="0"/>
        </a:xfrm>
      </p:grpSpPr>
      <p:sp>
        <p:nvSpPr>
          <p:cNvPr id="49" name="Text Box 48"/>
          <p:cNvSpPr txBox="1"/>
          <p:nvPr/>
        </p:nvSpPr>
        <p:spPr>
          <a:xfrm>
            <a:off x="1676400" y="1333500"/>
            <a:ext cx="5091430" cy="922020"/>
          </a:xfrm>
          <a:prstGeom prst="rect">
            <a:avLst/>
          </a:prstGeom>
          <a:noFill/>
        </p:spPr>
        <p:txBody>
          <a:bodyPr wrap="square" rtlCol="0">
            <a:spAutoFit/>
          </a:bodyPr>
          <a:p>
            <a:r>
              <a:rPr lang="en-US" altLang="en-US" sz="5400">
                <a:latin typeface="Times New Roman" panose="02020603050405020304" charset="0"/>
                <a:cs typeface="Times New Roman" panose="02020603050405020304" charset="0"/>
              </a:rPr>
              <a:t>Giới thiệu </a:t>
            </a:r>
            <a:r>
              <a:rPr lang="en-US" altLang="en-US" sz="5400">
                <a:latin typeface="Times New Roman" panose="02020603050405020304" charset="0"/>
                <a:cs typeface="Times New Roman" panose="02020603050405020304" charset="0"/>
              </a:rPr>
              <a:t>đ</a:t>
            </a:r>
            <a:r>
              <a:rPr lang="en-US" altLang="en-US" sz="5400">
                <a:latin typeface="Times New Roman" panose="02020603050405020304" charset="0"/>
                <a:cs typeface="Times New Roman" panose="02020603050405020304" charset="0"/>
              </a:rPr>
              <a:t>ề tài</a:t>
            </a:r>
            <a:endParaRPr lang="en-US" altLang="en-US" sz="5400">
              <a:latin typeface="Times New Roman" panose="02020603050405020304" charset="0"/>
              <a:cs typeface="Times New Roman" panose="02020603050405020304" charset="0"/>
            </a:endParaRPr>
          </a:p>
        </p:txBody>
      </p:sp>
      <p:grpSp>
        <p:nvGrpSpPr>
          <p:cNvPr id="53" name="Group 43"/>
          <p:cNvGrpSpPr/>
          <p:nvPr/>
        </p:nvGrpSpPr>
        <p:grpSpPr>
          <a:xfrm rot="0">
            <a:off x="1905000" y="1562100"/>
            <a:ext cx="6231890" cy="2303780"/>
            <a:chOff x="0" y="0"/>
            <a:chExt cx="3460767" cy="1264478"/>
          </a:xfrm>
        </p:grpSpPr>
        <p:sp>
          <p:nvSpPr>
            <p:cNvPr id="54" name="Freeform 44"/>
            <p:cNvSpPr/>
            <p:nvPr/>
          </p:nvSpPr>
          <p:spPr>
            <a:xfrm>
              <a:off x="0" y="0"/>
              <a:ext cx="3460767" cy="1264478"/>
            </a:xfrm>
            <a:custGeom>
              <a:avLst/>
              <a:gdLst/>
              <a:ahLst/>
              <a:cxnLst/>
              <a:rect l="l" t="t" r="r" b="b"/>
              <a:pathLst>
                <a:path w="3460767" h="1264478">
                  <a:moveTo>
                    <a:pt x="3336307" y="1264478"/>
                  </a:moveTo>
                  <a:lnTo>
                    <a:pt x="124460" y="1264478"/>
                  </a:lnTo>
                  <a:cubicBezTo>
                    <a:pt x="55880" y="1264478"/>
                    <a:pt x="0" y="1208598"/>
                    <a:pt x="0" y="1140018"/>
                  </a:cubicBezTo>
                  <a:lnTo>
                    <a:pt x="0" y="124460"/>
                  </a:lnTo>
                  <a:cubicBezTo>
                    <a:pt x="0" y="55880"/>
                    <a:pt x="55880" y="0"/>
                    <a:pt x="124460" y="0"/>
                  </a:cubicBezTo>
                  <a:lnTo>
                    <a:pt x="3336307" y="0"/>
                  </a:lnTo>
                  <a:cubicBezTo>
                    <a:pt x="3404887" y="0"/>
                    <a:pt x="3460767" y="55880"/>
                    <a:pt x="3460767" y="124460"/>
                  </a:cubicBezTo>
                  <a:lnTo>
                    <a:pt x="3460767" y="1140018"/>
                  </a:lnTo>
                  <a:cubicBezTo>
                    <a:pt x="3460767" y="1208598"/>
                    <a:pt x="3404887" y="1264478"/>
                    <a:pt x="3336307" y="1264478"/>
                  </a:cubicBezTo>
                  <a:close/>
                </a:path>
              </a:pathLst>
            </a:custGeom>
            <a:solidFill>
              <a:srgbClr val="FFF5ED"/>
            </a:solidFill>
          </p:spPr>
        </p:sp>
      </p:grpSp>
      <p:grpSp>
        <p:nvGrpSpPr>
          <p:cNvPr id="55" name="Group 9"/>
          <p:cNvGrpSpPr/>
          <p:nvPr/>
        </p:nvGrpSpPr>
        <p:grpSpPr>
          <a:xfrm rot="0">
            <a:off x="996315" y="755015"/>
            <a:ext cx="16268700" cy="8588375"/>
            <a:chOff x="0" y="0"/>
            <a:chExt cx="38560975" cy="44117015"/>
          </a:xfrm>
        </p:grpSpPr>
        <p:sp>
          <p:nvSpPr>
            <p:cNvPr id="56" name="Freeform 10"/>
            <p:cNvSpPr/>
            <p:nvPr/>
          </p:nvSpPr>
          <p:spPr>
            <a:xfrm>
              <a:off x="72390" y="72390"/>
              <a:ext cx="38416194" cy="43972236"/>
            </a:xfrm>
            <a:custGeom>
              <a:avLst/>
              <a:gdLst/>
              <a:ahLst/>
              <a:cxnLst/>
              <a:rect l="l" t="t" r="r" b="b"/>
              <a:pathLst>
                <a:path w="38416194" h="43972236">
                  <a:moveTo>
                    <a:pt x="0" y="0"/>
                  </a:moveTo>
                  <a:lnTo>
                    <a:pt x="38416194" y="0"/>
                  </a:lnTo>
                  <a:lnTo>
                    <a:pt x="38416194" y="43972236"/>
                  </a:lnTo>
                  <a:lnTo>
                    <a:pt x="0" y="43972236"/>
                  </a:lnTo>
                  <a:lnTo>
                    <a:pt x="0" y="0"/>
                  </a:lnTo>
                  <a:close/>
                </a:path>
              </a:pathLst>
            </a:custGeom>
            <a:solidFill>
              <a:srgbClr val="D6DFCC"/>
            </a:solidFill>
          </p:spPr>
        </p:sp>
        <p:sp>
          <p:nvSpPr>
            <p:cNvPr id="57" name="Freeform 11"/>
            <p:cNvSpPr/>
            <p:nvPr/>
          </p:nvSpPr>
          <p:spPr>
            <a:xfrm>
              <a:off x="0" y="0"/>
              <a:ext cx="38560973" cy="44117016"/>
            </a:xfrm>
            <a:custGeom>
              <a:avLst/>
              <a:gdLst/>
              <a:ahLst/>
              <a:cxnLst/>
              <a:rect l="l" t="t" r="r" b="b"/>
              <a:pathLst>
                <a:path w="38560973" h="44117016">
                  <a:moveTo>
                    <a:pt x="38416195" y="43972237"/>
                  </a:moveTo>
                  <a:lnTo>
                    <a:pt x="38560973" y="43972237"/>
                  </a:lnTo>
                  <a:lnTo>
                    <a:pt x="38560973" y="44117016"/>
                  </a:lnTo>
                  <a:lnTo>
                    <a:pt x="38416195" y="44117016"/>
                  </a:lnTo>
                  <a:lnTo>
                    <a:pt x="38416195" y="43972237"/>
                  </a:lnTo>
                  <a:close/>
                  <a:moveTo>
                    <a:pt x="0" y="144780"/>
                  </a:moveTo>
                  <a:lnTo>
                    <a:pt x="144780" y="144780"/>
                  </a:lnTo>
                  <a:lnTo>
                    <a:pt x="144780" y="43972237"/>
                  </a:lnTo>
                  <a:lnTo>
                    <a:pt x="0" y="43972237"/>
                  </a:lnTo>
                  <a:lnTo>
                    <a:pt x="0" y="144780"/>
                  </a:lnTo>
                  <a:close/>
                  <a:moveTo>
                    <a:pt x="0" y="43972237"/>
                  </a:moveTo>
                  <a:lnTo>
                    <a:pt x="144780" y="43972237"/>
                  </a:lnTo>
                  <a:lnTo>
                    <a:pt x="144780" y="44117016"/>
                  </a:lnTo>
                  <a:lnTo>
                    <a:pt x="0" y="44117016"/>
                  </a:lnTo>
                  <a:lnTo>
                    <a:pt x="0" y="43972237"/>
                  </a:lnTo>
                  <a:close/>
                  <a:moveTo>
                    <a:pt x="38416195" y="144780"/>
                  </a:moveTo>
                  <a:lnTo>
                    <a:pt x="38560973" y="144780"/>
                  </a:lnTo>
                  <a:lnTo>
                    <a:pt x="38560973" y="43972237"/>
                  </a:lnTo>
                  <a:lnTo>
                    <a:pt x="38416195" y="43972237"/>
                  </a:lnTo>
                  <a:lnTo>
                    <a:pt x="38416195" y="144780"/>
                  </a:lnTo>
                  <a:close/>
                  <a:moveTo>
                    <a:pt x="144780" y="43972237"/>
                  </a:moveTo>
                  <a:lnTo>
                    <a:pt x="38416195" y="43972237"/>
                  </a:lnTo>
                  <a:lnTo>
                    <a:pt x="38416195" y="44117016"/>
                  </a:lnTo>
                  <a:lnTo>
                    <a:pt x="144780" y="44117016"/>
                  </a:lnTo>
                  <a:lnTo>
                    <a:pt x="144780" y="43972237"/>
                  </a:lnTo>
                  <a:close/>
                  <a:moveTo>
                    <a:pt x="38416195" y="0"/>
                  </a:moveTo>
                  <a:lnTo>
                    <a:pt x="38560973" y="0"/>
                  </a:lnTo>
                  <a:lnTo>
                    <a:pt x="38560973" y="144780"/>
                  </a:lnTo>
                  <a:lnTo>
                    <a:pt x="38416195" y="144780"/>
                  </a:lnTo>
                  <a:lnTo>
                    <a:pt x="38416195" y="0"/>
                  </a:lnTo>
                  <a:close/>
                  <a:moveTo>
                    <a:pt x="0" y="0"/>
                  </a:moveTo>
                  <a:lnTo>
                    <a:pt x="144780" y="0"/>
                  </a:lnTo>
                  <a:lnTo>
                    <a:pt x="144780" y="144780"/>
                  </a:lnTo>
                  <a:lnTo>
                    <a:pt x="0" y="144780"/>
                  </a:lnTo>
                  <a:lnTo>
                    <a:pt x="0" y="0"/>
                  </a:lnTo>
                  <a:close/>
                  <a:moveTo>
                    <a:pt x="144780" y="0"/>
                  </a:moveTo>
                  <a:lnTo>
                    <a:pt x="38416195" y="0"/>
                  </a:lnTo>
                  <a:lnTo>
                    <a:pt x="38416195" y="144780"/>
                  </a:lnTo>
                  <a:lnTo>
                    <a:pt x="144780" y="144780"/>
                  </a:lnTo>
                  <a:lnTo>
                    <a:pt x="144780" y="0"/>
                  </a:lnTo>
                  <a:close/>
                </a:path>
              </a:pathLst>
            </a:custGeom>
            <a:solidFill>
              <a:srgbClr val="000000"/>
            </a:solidFill>
          </p:spPr>
        </p:sp>
      </p:grpSp>
      <p:sp>
        <p:nvSpPr>
          <p:cNvPr id="63" name="Text Box 62"/>
          <p:cNvSpPr txBox="1"/>
          <p:nvPr/>
        </p:nvSpPr>
        <p:spPr>
          <a:xfrm>
            <a:off x="1885315" y="1409700"/>
            <a:ext cx="4882515" cy="640715"/>
          </a:xfrm>
          <a:prstGeom prst="rect">
            <a:avLst/>
          </a:prstGeom>
          <a:noFill/>
        </p:spPr>
        <p:txBody>
          <a:bodyPr wrap="square" rtlCol="0">
            <a:noAutofit/>
          </a:bodyPr>
          <a:p>
            <a:r>
              <a:rPr lang="en-US" sz="4400">
                <a:latin typeface="Times New Roman" panose="02020603050405020304" charset="0"/>
                <a:cs typeface="Times New Roman" panose="02020603050405020304" charset="0"/>
              </a:rPr>
              <a:t>1 Giới thiệu đề tài </a:t>
            </a:r>
            <a:endParaRPr lang="en-US" sz="4400">
              <a:latin typeface="Times New Roman" panose="02020603050405020304" charset="0"/>
              <a:cs typeface="Times New Roman" panose="02020603050405020304" charset="0"/>
            </a:endParaRPr>
          </a:p>
        </p:txBody>
      </p:sp>
      <p:sp>
        <p:nvSpPr>
          <p:cNvPr id="64" name="Text Box 63"/>
          <p:cNvSpPr txBox="1"/>
          <p:nvPr/>
        </p:nvSpPr>
        <p:spPr>
          <a:xfrm>
            <a:off x="2286000" y="2552700"/>
            <a:ext cx="13471525" cy="5507990"/>
          </a:xfrm>
          <a:prstGeom prst="rect">
            <a:avLst/>
          </a:prstGeom>
          <a:noFill/>
        </p:spPr>
        <p:txBody>
          <a:bodyPr wrap="square" rtlCol="0">
            <a:spAutoFit/>
          </a:bodyPr>
          <a:p>
            <a:pPr indent="457200" algn="just"/>
            <a:r>
              <a:rPr lang="en-US" altLang="en-US" sz="3200">
                <a:latin typeface="Times New Roman" panose="02020603050405020304" charset="0"/>
                <a:cs typeface="Times New Roman" panose="02020603050405020304" charset="0"/>
              </a:rPr>
              <a:t>Đ</a:t>
            </a:r>
            <a:r>
              <a:rPr lang="en-US" altLang="en-US" sz="3200">
                <a:latin typeface="Times New Roman" panose="02020603050405020304" charset="0"/>
                <a:cs typeface="Times New Roman" panose="02020603050405020304" charset="0"/>
              </a:rPr>
              <a:t>ề tài tập trung phân tích dữ liệu tuyển dụng ngành Công nghệ thông tin tại Việt Nam nhằm tìm hiểu nhu cầu tuyển dụng, các vị trí việc làm phổ biến và những kỹ n</a:t>
            </a:r>
            <a:r>
              <a:rPr lang="en-US" altLang="en-US" sz="3200">
                <a:latin typeface="Times New Roman" panose="02020603050405020304" charset="0"/>
                <a:cs typeface="Times New Roman" panose="02020603050405020304" charset="0"/>
              </a:rPr>
              <a:t>ă</a:t>
            </a:r>
            <a:r>
              <a:rPr lang="en-US" altLang="en-US" sz="3200">
                <a:latin typeface="Times New Roman" panose="02020603050405020304" charset="0"/>
                <a:cs typeface="Times New Roman" panose="02020603050405020304" charset="0"/>
              </a:rPr>
              <a:t>ng </a:t>
            </a:r>
            <a:r>
              <a:rPr lang="en-US" altLang="en-US" sz="3200">
                <a:latin typeface="Times New Roman" panose="02020603050405020304" charset="0"/>
                <a:cs typeface="Times New Roman" panose="02020603050405020304" charset="0"/>
              </a:rPr>
              <a:t>đ</a:t>
            </a:r>
            <a:r>
              <a:rPr lang="en-US" altLang="en-US" sz="3200">
                <a:latin typeface="Times New Roman" panose="02020603050405020304" charset="0"/>
                <a:cs typeface="Times New Roman" panose="02020603050405020304" charset="0"/>
              </a:rPr>
              <a:t>ang </a:t>
            </a:r>
            <a:r>
              <a:rPr lang="en-US" altLang="en-US" sz="3200">
                <a:latin typeface="Times New Roman" panose="02020603050405020304" charset="0"/>
                <a:cs typeface="Times New Roman" panose="02020603050405020304" charset="0"/>
              </a:rPr>
              <a:t>đư</a:t>
            </a:r>
            <a:r>
              <a:rPr lang="en-US" altLang="en-US" sz="3200">
                <a:latin typeface="Times New Roman" panose="02020603050405020304" charset="0"/>
                <a:cs typeface="Times New Roman" panose="02020603050405020304" charset="0"/>
              </a:rPr>
              <a:t>ợc doanh nghiệp quan tâm.</a:t>
            </a:r>
            <a:endParaRPr lang="en-US" altLang="en-US" sz="3200">
              <a:latin typeface="Times New Roman" panose="02020603050405020304" charset="0"/>
              <a:cs typeface="Times New Roman" panose="02020603050405020304" charset="0"/>
            </a:endParaRPr>
          </a:p>
          <a:p>
            <a:pPr algn="just"/>
            <a:endParaRPr lang="en-US" altLang="en-US" sz="3200">
              <a:latin typeface="Times New Roman" panose="02020603050405020304" charset="0"/>
              <a:cs typeface="Times New Roman" panose="02020603050405020304" charset="0"/>
            </a:endParaRPr>
          </a:p>
          <a:p>
            <a:pPr indent="457200" algn="just"/>
            <a:r>
              <a:rPr lang="en-US" altLang="en-US" sz="3200">
                <a:latin typeface="Times New Roman" panose="02020603050405020304" charset="0"/>
                <a:cs typeface="Times New Roman" panose="02020603050405020304" charset="0"/>
              </a:rPr>
              <a:t>Bộ dữ liệu sử dụng là IT Jobs Dataset, gồm các thông tin nh</a:t>
            </a:r>
            <a:r>
              <a:rPr lang="en-US" altLang="en-US" sz="3200">
                <a:latin typeface="Times New Roman" panose="02020603050405020304" charset="0"/>
                <a:cs typeface="Times New Roman" panose="02020603050405020304" charset="0"/>
              </a:rPr>
              <a:t>ư </a:t>
            </a:r>
            <a:r>
              <a:rPr lang="en-US" altLang="en-US" sz="3200">
                <a:latin typeface="Times New Roman" panose="02020603050405020304" charset="0"/>
                <a:cs typeface="Times New Roman" panose="02020603050405020304" charset="0"/>
              </a:rPr>
              <a:t>thành phố tuyển dụng, vị trí công việc, kỹ n</a:t>
            </a:r>
            <a:r>
              <a:rPr lang="en-US" altLang="en-US" sz="3200">
                <a:latin typeface="Times New Roman" panose="02020603050405020304" charset="0"/>
                <a:cs typeface="Times New Roman" panose="02020603050405020304" charset="0"/>
              </a:rPr>
              <a:t>ă</a:t>
            </a:r>
            <a:r>
              <a:rPr lang="en-US" altLang="en-US" sz="3200">
                <a:latin typeface="Times New Roman" panose="02020603050405020304" charset="0"/>
                <a:cs typeface="Times New Roman" panose="02020603050405020304" charset="0"/>
              </a:rPr>
              <a:t>ng yêu cầu, </a:t>
            </a:r>
            <a:r>
              <a:rPr lang="en-US" altLang="en-US" sz="3200">
                <a:latin typeface="Times New Roman" panose="02020603050405020304" charset="0"/>
                <a:cs typeface="Times New Roman" panose="02020603050405020304" charset="0"/>
              </a:rPr>
              <a:t>đ</a:t>
            </a:r>
            <a:r>
              <a:rPr lang="en-US" altLang="en-US" sz="3200">
                <a:latin typeface="Times New Roman" panose="02020603050405020304" charset="0"/>
                <a:cs typeface="Times New Roman" panose="02020603050405020304" charset="0"/>
              </a:rPr>
              <a:t>ánh giá công ty và các thông tin liên quan.</a:t>
            </a:r>
            <a:endParaRPr lang="en-US" altLang="en-US" sz="3200">
              <a:latin typeface="Times New Roman" panose="02020603050405020304" charset="0"/>
              <a:cs typeface="Times New Roman" panose="02020603050405020304" charset="0"/>
            </a:endParaRPr>
          </a:p>
          <a:p>
            <a:pPr algn="just"/>
            <a:endParaRPr lang="en-US" altLang="en-US" sz="3200">
              <a:latin typeface="Times New Roman" panose="02020603050405020304" charset="0"/>
              <a:cs typeface="Times New Roman" panose="02020603050405020304" charset="0"/>
            </a:endParaRPr>
          </a:p>
          <a:p>
            <a:pPr indent="457200" algn="just"/>
            <a:r>
              <a:rPr lang="en-US" altLang="en-US" sz="3200">
                <a:latin typeface="Times New Roman" panose="02020603050405020304" charset="0"/>
                <a:cs typeface="Times New Roman" panose="02020603050405020304" charset="0"/>
              </a:rPr>
              <a:t>Thông qua </a:t>
            </a:r>
            <a:r>
              <a:rPr lang="en-US" altLang="en-US" sz="3200">
                <a:latin typeface="Times New Roman" panose="02020603050405020304" charset="0"/>
                <a:cs typeface="Times New Roman" panose="02020603050405020304" charset="0"/>
              </a:rPr>
              <a:t>đ</a:t>
            </a:r>
            <a:r>
              <a:rPr lang="en-US" altLang="en-US" sz="3200">
                <a:latin typeface="Times New Roman" panose="02020603050405020304" charset="0"/>
                <a:cs typeface="Times New Roman" panose="02020603050405020304" charset="0"/>
              </a:rPr>
              <a:t>ề tài, em thực hiện các b</a:t>
            </a:r>
            <a:r>
              <a:rPr lang="en-US" altLang="en-US" sz="3200">
                <a:latin typeface="Times New Roman" panose="02020603050405020304" charset="0"/>
                <a:cs typeface="Times New Roman" panose="02020603050405020304" charset="0"/>
              </a:rPr>
              <a:t>ư</a:t>
            </a:r>
            <a:r>
              <a:rPr lang="en-US" altLang="en-US" sz="3200">
                <a:latin typeface="Times New Roman" panose="02020603050405020304" charset="0"/>
                <a:cs typeface="Times New Roman" panose="02020603050405020304" charset="0"/>
              </a:rPr>
              <a:t>ớc xử l</a:t>
            </a:r>
            <a:r>
              <a:rPr lang="en-US" altLang="en-US" sz="3200">
                <a:latin typeface="Times New Roman" panose="02020603050405020304" charset="0"/>
                <a:cs typeface="Times New Roman" panose="02020603050405020304" charset="0"/>
              </a:rPr>
              <a:t>ý </a:t>
            </a:r>
            <a:r>
              <a:rPr lang="en-US" altLang="en-US" sz="3200">
                <a:latin typeface="Times New Roman" panose="02020603050405020304" charset="0"/>
                <a:cs typeface="Times New Roman" panose="02020603050405020304" charset="0"/>
              </a:rPr>
              <a:t>dữ liệu, phân tích dữ liệu khám phá, trực quan hóa kết quả và xây dựng mô hình học máy </a:t>
            </a:r>
            <a:r>
              <a:rPr lang="en-US" altLang="en-US" sz="3200">
                <a:latin typeface="Times New Roman" panose="02020603050405020304" charset="0"/>
                <a:cs typeface="Times New Roman" panose="02020603050405020304" charset="0"/>
              </a:rPr>
              <a:t>đ</a:t>
            </a:r>
            <a:r>
              <a:rPr lang="en-US" altLang="en-US" sz="3200">
                <a:latin typeface="Times New Roman" panose="02020603050405020304" charset="0"/>
                <a:cs typeface="Times New Roman" panose="02020603050405020304" charset="0"/>
              </a:rPr>
              <a:t>ể dự </a:t>
            </a:r>
            <a:r>
              <a:rPr lang="en-US" altLang="en-US" sz="3200">
                <a:latin typeface="Times New Roman" panose="02020603050405020304" charset="0"/>
                <a:cs typeface="Times New Roman" panose="02020603050405020304" charset="0"/>
              </a:rPr>
              <a:t>đ</a:t>
            </a:r>
            <a:r>
              <a:rPr lang="en-US" altLang="en-US" sz="3200">
                <a:latin typeface="Times New Roman" panose="02020603050405020304" charset="0"/>
                <a:cs typeface="Times New Roman" panose="02020603050405020304" charset="0"/>
              </a:rPr>
              <a:t>oán, phân nhóm nghề nghiệp trong l</a:t>
            </a:r>
            <a:r>
              <a:rPr lang="en-US" altLang="en-US" sz="3200">
                <a:latin typeface="Times New Roman" panose="02020603050405020304" charset="0"/>
                <a:cs typeface="Times New Roman" panose="02020603050405020304" charset="0"/>
              </a:rPr>
              <a:t>ĩ</a:t>
            </a:r>
            <a:r>
              <a:rPr lang="en-US" altLang="en-US" sz="3200">
                <a:latin typeface="Times New Roman" panose="02020603050405020304" charset="0"/>
                <a:cs typeface="Times New Roman" panose="02020603050405020304" charset="0"/>
              </a:rPr>
              <a:t>nh vực CNTT.</a:t>
            </a:r>
            <a:endParaRPr lang="en-US" altLang="en-US" sz="3200">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5ED"/>
        </a:solidFill>
        <a:effectLst/>
      </p:bgPr>
    </p:bg>
    <p:spTree>
      <p:nvGrpSpPr>
        <p:cNvPr id="1" name=""/>
        <p:cNvGrpSpPr/>
        <p:nvPr/>
      </p:nvGrpSpPr>
      <p:grpSpPr>
        <a:xfrm>
          <a:off x="0" y="0"/>
          <a:ext cx="0" cy="0"/>
          <a:chOff x="0" y="0"/>
          <a:chExt cx="0" cy="0"/>
        </a:xfrm>
      </p:grpSpPr>
      <p:grpSp>
        <p:nvGrpSpPr>
          <p:cNvPr id="2" name="Group 2"/>
          <p:cNvGrpSpPr/>
          <p:nvPr/>
        </p:nvGrpSpPr>
        <p:grpSpPr>
          <a:xfrm rot="0">
            <a:off x="1160145" y="1095375"/>
            <a:ext cx="16118840" cy="8229600"/>
            <a:chOff x="0" y="0"/>
            <a:chExt cx="59024347" cy="61454530"/>
          </a:xfrm>
        </p:grpSpPr>
        <p:sp>
          <p:nvSpPr>
            <p:cNvPr id="3" name="Freeform 3"/>
            <p:cNvSpPr/>
            <p:nvPr/>
          </p:nvSpPr>
          <p:spPr>
            <a:xfrm>
              <a:off x="72390" y="72390"/>
              <a:ext cx="58879565" cy="61309749"/>
            </a:xfrm>
            <a:custGeom>
              <a:avLst/>
              <a:gdLst/>
              <a:ahLst/>
              <a:cxnLst/>
              <a:rect l="l" t="t" r="r" b="b"/>
              <a:pathLst>
                <a:path w="58879565" h="61309749">
                  <a:moveTo>
                    <a:pt x="0" y="0"/>
                  </a:moveTo>
                  <a:lnTo>
                    <a:pt x="58879565" y="0"/>
                  </a:lnTo>
                  <a:lnTo>
                    <a:pt x="58879565" y="61309749"/>
                  </a:lnTo>
                  <a:lnTo>
                    <a:pt x="0" y="61309749"/>
                  </a:lnTo>
                  <a:lnTo>
                    <a:pt x="0" y="0"/>
                  </a:lnTo>
                  <a:close/>
                </a:path>
              </a:pathLst>
            </a:custGeom>
            <a:solidFill>
              <a:srgbClr val="B9BBDD"/>
            </a:solidFill>
          </p:spPr>
        </p:sp>
        <p:sp>
          <p:nvSpPr>
            <p:cNvPr id="4" name="Freeform 4"/>
            <p:cNvSpPr/>
            <p:nvPr/>
          </p:nvSpPr>
          <p:spPr>
            <a:xfrm>
              <a:off x="0" y="0"/>
              <a:ext cx="59024348" cy="61454531"/>
            </a:xfrm>
            <a:custGeom>
              <a:avLst/>
              <a:gdLst/>
              <a:ahLst/>
              <a:cxnLst/>
              <a:rect l="l" t="t" r="r" b="b"/>
              <a:pathLst>
                <a:path w="59024348" h="61454531">
                  <a:moveTo>
                    <a:pt x="58879569" y="61309752"/>
                  </a:moveTo>
                  <a:lnTo>
                    <a:pt x="59024348" y="61309752"/>
                  </a:lnTo>
                  <a:lnTo>
                    <a:pt x="59024348" y="61454531"/>
                  </a:lnTo>
                  <a:lnTo>
                    <a:pt x="58879569" y="61454531"/>
                  </a:lnTo>
                  <a:lnTo>
                    <a:pt x="58879569" y="61309752"/>
                  </a:lnTo>
                  <a:close/>
                  <a:moveTo>
                    <a:pt x="0" y="144780"/>
                  </a:moveTo>
                  <a:lnTo>
                    <a:pt x="144780" y="144780"/>
                  </a:lnTo>
                  <a:lnTo>
                    <a:pt x="144780" y="61309752"/>
                  </a:lnTo>
                  <a:lnTo>
                    <a:pt x="0" y="61309752"/>
                  </a:lnTo>
                  <a:lnTo>
                    <a:pt x="0" y="144780"/>
                  </a:lnTo>
                  <a:close/>
                  <a:moveTo>
                    <a:pt x="0" y="61309752"/>
                  </a:moveTo>
                  <a:lnTo>
                    <a:pt x="144780" y="61309752"/>
                  </a:lnTo>
                  <a:lnTo>
                    <a:pt x="144780" y="61454531"/>
                  </a:lnTo>
                  <a:lnTo>
                    <a:pt x="0" y="61454531"/>
                  </a:lnTo>
                  <a:lnTo>
                    <a:pt x="0" y="61309752"/>
                  </a:lnTo>
                  <a:close/>
                  <a:moveTo>
                    <a:pt x="58879569" y="144780"/>
                  </a:moveTo>
                  <a:lnTo>
                    <a:pt x="59024348" y="144780"/>
                  </a:lnTo>
                  <a:lnTo>
                    <a:pt x="59024348" y="61309752"/>
                  </a:lnTo>
                  <a:lnTo>
                    <a:pt x="58879569" y="61309752"/>
                  </a:lnTo>
                  <a:lnTo>
                    <a:pt x="58879569" y="144780"/>
                  </a:lnTo>
                  <a:close/>
                  <a:moveTo>
                    <a:pt x="144780" y="61309752"/>
                  </a:moveTo>
                  <a:lnTo>
                    <a:pt x="58879569" y="61309752"/>
                  </a:lnTo>
                  <a:lnTo>
                    <a:pt x="58879569" y="61454531"/>
                  </a:lnTo>
                  <a:lnTo>
                    <a:pt x="144780" y="61454531"/>
                  </a:lnTo>
                  <a:lnTo>
                    <a:pt x="144780" y="61309752"/>
                  </a:lnTo>
                  <a:close/>
                  <a:moveTo>
                    <a:pt x="58879569" y="0"/>
                  </a:moveTo>
                  <a:lnTo>
                    <a:pt x="59024348" y="0"/>
                  </a:lnTo>
                  <a:lnTo>
                    <a:pt x="59024348" y="144780"/>
                  </a:lnTo>
                  <a:lnTo>
                    <a:pt x="58879569" y="144780"/>
                  </a:lnTo>
                  <a:lnTo>
                    <a:pt x="58879569" y="0"/>
                  </a:lnTo>
                  <a:close/>
                  <a:moveTo>
                    <a:pt x="0" y="0"/>
                  </a:moveTo>
                  <a:lnTo>
                    <a:pt x="144780" y="0"/>
                  </a:lnTo>
                  <a:lnTo>
                    <a:pt x="144780" y="144780"/>
                  </a:lnTo>
                  <a:lnTo>
                    <a:pt x="0" y="144780"/>
                  </a:lnTo>
                  <a:lnTo>
                    <a:pt x="0" y="0"/>
                  </a:lnTo>
                  <a:close/>
                  <a:moveTo>
                    <a:pt x="144780" y="0"/>
                  </a:moveTo>
                  <a:lnTo>
                    <a:pt x="58879569" y="0"/>
                  </a:lnTo>
                  <a:lnTo>
                    <a:pt x="58879569" y="144780"/>
                  </a:lnTo>
                  <a:lnTo>
                    <a:pt x="144780" y="144780"/>
                  </a:lnTo>
                  <a:lnTo>
                    <a:pt x="144780" y="0"/>
                  </a:lnTo>
                  <a:close/>
                </a:path>
              </a:pathLst>
            </a:custGeom>
            <a:solidFill>
              <a:srgbClr val="000000"/>
            </a:solidFill>
          </p:spPr>
        </p:sp>
      </p:grpSp>
      <p:sp>
        <p:nvSpPr>
          <p:cNvPr id="17" name="Text Box 16"/>
          <p:cNvSpPr txBox="1"/>
          <p:nvPr/>
        </p:nvSpPr>
        <p:spPr>
          <a:xfrm>
            <a:off x="1905000" y="1485900"/>
            <a:ext cx="5871845" cy="1463675"/>
          </a:xfrm>
          <a:prstGeom prst="rect">
            <a:avLst/>
          </a:prstGeom>
          <a:noFill/>
        </p:spPr>
        <p:txBody>
          <a:bodyPr wrap="square" rtlCol="0">
            <a:noAutofit/>
          </a:bodyPr>
          <a:p>
            <a:r>
              <a:rPr lang="en-US" altLang="en-US" sz="4000">
                <a:latin typeface="Times New Roman" panose="02020603050405020304" charset="0"/>
                <a:cs typeface="Times New Roman" panose="02020603050405020304" charset="0"/>
              </a:rPr>
              <a:t>2. Mục tiêu thực hiện</a:t>
            </a:r>
            <a:endParaRPr lang="en-US" altLang="en-US" sz="4000">
              <a:latin typeface="Times New Roman" panose="02020603050405020304" charset="0"/>
              <a:cs typeface="Times New Roman" panose="02020603050405020304" charset="0"/>
            </a:endParaRPr>
          </a:p>
        </p:txBody>
      </p:sp>
      <p:sp>
        <p:nvSpPr>
          <p:cNvPr id="18" name="Text Box 17"/>
          <p:cNvSpPr txBox="1"/>
          <p:nvPr/>
        </p:nvSpPr>
        <p:spPr>
          <a:xfrm>
            <a:off x="2514600" y="2324100"/>
            <a:ext cx="13006070" cy="6739255"/>
          </a:xfrm>
          <a:prstGeom prst="rect">
            <a:avLst/>
          </a:prstGeom>
          <a:noFill/>
        </p:spPr>
        <p:txBody>
          <a:bodyPr wrap="square" rtlCol="0">
            <a:spAutoFit/>
          </a:bodyPr>
          <a:p>
            <a:pPr algn="just">
              <a:lnSpc>
                <a:spcPct val="150000"/>
              </a:lnSpc>
            </a:pPr>
            <a:r>
              <a:rPr lang="en-US" altLang="en-US" sz="3200">
                <a:latin typeface="Times New Roman" panose="02020603050405020304" charset="0"/>
                <a:cs typeface="Times New Roman" panose="02020603050405020304" charset="0"/>
              </a:rPr>
              <a:t>* Trong </a:t>
            </a:r>
            <a:r>
              <a:rPr lang="en-US" altLang="en-US" sz="3200">
                <a:latin typeface="Times New Roman" panose="02020603050405020304" charset="0"/>
                <a:cs typeface="Times New Roman" panose="02020603050405020304" charset="0"/>
              </a:rPr>
              <a:t>đ</a:t>
            </a:r>
            <a:r>
              <a:rPr lang="en-US" altLang="en-US" sz="3200">
                <a:latin typeface="Times New Roman" panose="02020603050405020304" charset="0"/>
                <a:cs typeface="Times New Roman" panose="02020603050405020304" charset="0"/>
              </a:rPr>
              <a:t>ề tài này, em tập trung thực hiện các nội dung chính sau:</a:t>
            </a:r>
            <a:endParaRPr lang="en-US" altLang="en-US" sz="3200">
              <a:latin typeface="Times New Roman" panose="02020603050405020304" charset="0"/>
              <a:cs typeface="Times New Roman" panose="02020603050405020304" charset="0"/>
            </a:endParaRPr>
          </a:p>
          <a:p>
            <a:pPr lvl="1" algn="just">
              <a:lnSpc>
                <a:spcPct val="150000"/>
              </a:lnSpc>
            </a:pPr>
            <a:r>
              <a:rPr lang="en-US" altLang="en-US" sz="3200">
                <a:latin typeface="Times New Roman" panose="02020603050405020304" charset="0"/>
                <a:cs typeface="Times New Roman" panose="02020603050405020304" charset="0"/>
              </a:rPr>
              <a:t>- Phân tích nhu cầu tuyển dụng CNTT theo thành phố.</a:t>
            </a:r>
            <a:endParaRPr lang="en-US" altLang="en-US" sz="3200">
              <a:latin typeface="Times New Roman" panose="02020603050405020304" charset="0"/>
              <a:cs typeface="Times New Roman" panose="02020603050405020304" charset="0"/>
            </a:endParaRPr>
          </a:p>
          <a:p>
            <a:pPr lvl="1" algn="just">
              <a:lnSpc>
                <a:spcPct val="150000"/>
              </a:lnSpc>
            </a:pPr>
            <a:r>
              <a:rPr lang="en-US" altLang="en-US" sz="3200">
                <a:latin typeface="Times New Roman" panose="02020603050405020304" charset="0"/>
                <a:cs typeface="Times New Roman" panose="02020603050405020304" charset="0"/>
              </a:rPr>
              <a:t>- Xác </a:t>
            </a:r>
            <a:r>
              <a:rPr lang="en-US" altLang="en-US" sz="3200">
                <a:latin typeface="Times New Roman" panose="02020603050405020304" charset="0"/>
                <a:cs typeface="Times New Roman" panose="02020603050405020304" charset="0"/>
              </a:rPr>
              <a:t>đ</a:t>
            </a:r>
            <a:r>
              <a:rPr lang="en-US" altLang="en-US" sz="3200">
                <a:latin typeface="Times New Roman" panose="02020603050405020304" charset="0"/>
                <a:cs typeface="Times New Roman" panose="02020603050405020304" charset="0"/>
              </a:rPr>
              <a:t>ịnh các vị trí CNTT </a:t>
            </a:r>
            <a:r>
              <a:rPr lang="en-US" altLang="en-US" sz="3200">
                <a:latin typeface="Times New Roman" panose="02020603050405020304" charset="0"/>
                <a:cs typeface="Times New Roman" panose="02020603050405020304" charset="0"/>
              </a:rPr>
              <a:t>đư</a:t>
            </a:r>
            <a:r>
              <a:rPr lang="en-US" altLang="en-US" sz="3200">
                <a:latin typeface="Times New Roman" panose="02020603050405020304" charset="0"/>
                <a:cs typeface="Times New Roman" panose="02020603050405020304" charset="0"/>
              </a:rPr>
              <a:t>ợc tuyển dụng nhiều nhất.</a:t>
            </a:r>
            <a:endParaRPr lang="en-US" altLang="en-US" sz="3200">
              <a:latin typeface="Times New Roman" panose="02020603050405020304" charset="0"/>
              <a:cs typeface="Times New Roman" panose="02020603050405020304" charset="0"/>
            </a:endParaRPr>
          </a:p>
          <a:p>
            <a:pPr lvl="1" algn="just">
              <a:lnSpc>
                <a:spcPct val="150000"/>
              </a:lnSpc>
            </a:pPr>
            <a:r>
              <a:rPr lang="en-US" altLang="en-US" sz="3200">
                <a:latin typeface="Times New Roman" panose="02020603050405020304" charset="0"/>
                <a:cs typeface="Times New Roman" panose="02020603050405020304" charset="0"/>
              </a:rPr>
              <a:t>- Thống kê các kỹ n</a:t>
            </a:r>
            <a:r>
              <a:rPr lang="en-US" altLang="en-US" sz="3200">
                <a:latin typeface="Times New Roman" panose="02020603050405020304" charset="0"/>
                <a:cs typeface="Times New Roman" panose="02020603050405020304" charset="0"/>
              </a:rPr>
              <a:t>ă</a:t>
            </a:r>
            <a:r>
              <a:rPr lang="en-US" altLang="en-US" sz="3200">
                <a:latin typeface="Times New Roman" panose="02020603050405020304" charset="0"/>
                <a:cs typeface="Times New Roman" panose="02020603050405020304" charset="0"/>
              </a:rPr>
              <a:t>ng CNTT </a:t>
            </a:r>
            <a:r>
              <a:rPr lang="en-US" altLang="en-US" sz="3200">
                <a:latin typeface="Times New Roman" panose="02020603050405020304" charset="0"/>
                <a:cs typeface="Times New Roman" panose="02020603050405020304" charset="0"/>
              </a:rPr>
              <a:t>đư</a:t>
            </a:r>
            <a:r>
              <a:rPr lang="en-US" altLang="en-US" sz="3200">
                <a:latin typeface="Times New Roman" panose="02020603050405020304" charset="0"/>
                <a:cs typeface="Times New Roman" panose="02020603050405020304" charset="0"/>
              </a:rPr>
              <a:t>ợc yêu cầu nhiều nhất.</a:t>
            </a:r>
            <a:endParaRPr lang="en-US" altLang="en-US" sz="3200">
              <a:latin typeface="Times New Roman" panose="02020603050405020304" charset="0"/>
              <a:cs typeface="Times New Roman" panose="02020603050405020304" charset="0"/>
            </a:endParaRPr>
          </a:p>
          <a:p>
            <a:pPr lvl="1" algn="just">
              <a:lnSpc>
                <a:spcPct val="150000"/>
              </a:lnSpc>
            </a:pPr>
            <a:r>
              <a:rPr lang="en-US" altLang="en-US" sz="3200">
                <a:latin typeface="Times New Roman" panose="02020603050405020304" charset="0"/>
                <a:cs typeface="Times New Roman" panose="02020603050405020304" charset="0"/>
              </a:rPr>
              <a:t>- Phân tích mối liên hệ giữa các kỹ n</a:t>
            </a:r>
            <a:r>
              <a:rPr lang="en-US" altLang="en-US" sz="3200">
                <a:latin typeface="Times New Roman" panose="02020603050405020304" charset="0"/>
                <a:cs typeface="Times New Roman" panose="02020603050405020304" charset="0"/>
              </a:rPr>
              <a:t>ă</a:t>
            </a:r>
            <a:r>
              <a:rPr lang="en-US" altLang="en-US" sz="3200">
                <a:latin typeface="Times New Roman" panose="02020603050405020304" charset="0"/>
                <a:cs typeface="Times New Roman" panose="02020603050405020304" charset="0"/>
              </a:rPr>
              <a:t>ng.</a:t>
            </a:r>
            <a:endParaRPr lang="en-US" altLang="en-US" sz="3200">
              <a:latin typeface="Times New Roman" panose="02020603050405020304" charset="0"/>
              <a:cs typeface="Times New Roman" panose="02020603050405020304" charset="0"/>
            </a:endParaRPr>
          </a:p>
          <a:p>
            <a:pPr lvl="1" algn="just">
              <a:lnSpc>
                <a:spcPct val="150000"/>
              </a:lnSpc>
            </a:pPr>
            <a:r>
              <a:rPr lang="en-US" sz="3200">
                <a:latin typeface="Times New Roman" panose="02020603050405020304" charset="0"/>
                <a:cs typeface="Times New Roman" panose="02020603050405020304" charset="0"/>
              </a:rPr>
              <a:t>- </a:t>
            </a:r>
            <a:r>
              <a:rPr lang="en-US" altLang="en-US" sz="3200">
                <a:latin typeface="Times New Roman" panose="02020603050405020304" charset="0"/>
                <a:cs typeface="Times New Roman" panose="02020603050405020304" charset="0"/>
              </a:rPr>
              <a:t>Đ</a:t>
            </a:r>
            <a:r>
              <a:rPr lang="en-US" altLang="en-US" sz="3200">
                <a:latin typeface="Times New Roman" panose="02020603050405020304" charset="0"/>
                <a:cs typeface="Times New Roman" panose="02020603050405020304" charset="0"/>
              </a:rPr>
              <a:t>ánh giá mối quan hệ giữa số l</a:t>
            </a:r>
            <a:r>
              <a:rPr lang="en-US" altLang="en-US" sz="3200">
                <a:latin typeface="Times New Roman" panose="02020603050405020304" charset="0"/>
                <a:cs typeface="Times New Roman" panose="02020603050405020304" charset="0"/>
              </a:rPr>
              <a:t>ư</a:t>
            </a:r>
            <a:r>
              <a:rPr lang="en-US" altLang="en-US" sz="3200">
                <a:latin typeface="Times New Roman" panose="02020603050405020304" charset="0"/>
                <a:cs typeface="Times New Roman" panose="02020603050405020304" charset="0"/>
              </a:rPr>
              <a:t>ợng kỹ n</a:t>
            </a:r>
            <a:r>
              <a:rPr lang="en-US" altLang="en-US" sz="3200">
                <a:latin typeface="Times New Roman" panose="02020603050405020304" charset="0"/>
                <a:cs typeface="Times New Roman" panose="02020603050405020304" charset="0"/>
              </a:rPr>
              <a:t>ă</a:t>
            </a:r>
            <a:r>
              <a:rPr lang="en-US" altLang="en-US" sz="3200">
                <a:latin typeface="Times New Roman" panose="02020603050405020304" charset="0"/>
                <a:cs typeface="Times New Roman" panose="02020603050405020304" charset="0"/>
              </a:rPr>
              <a:t>ng và </a:t>
            </a:r>
            <a:r>
              <a:rPr lang="en-US" altLang="en-US" sz="3200">
                <a:latin typeface="Times New Roman" panose="02020603050405020304" charset="0"/>
                <a:cs typeface="Times New Roman" panose="02020603050405020304" charset="0"/>
              </a:rPr>
              <a:t>đ</a:t>
            </a:r>
            <a:r>
              <a:rPr lang="en-US" altLang="en-US" sz="3200">
                <a:latin typeface="Times New Roman" panose="02020603050405020304" charset="0"/>
                <a:cs typeface="Times New Roman" panose="02020603050405020304" charset="0"/>
              </a:rPr>
              <a:t>ánh giá công ty.</a:t>
            </a:r>
            <a:endParaRPr lang="en-US" altLang="en-US" sz="3200">
              <a:latin typeface="Times New Roman" panose="02020603050405020304" charset="0"/>
              <a:cs typeface="Times New Roman" panose="02020603050405020304" charset="0"/>
            </a:endParaRPr>
          </a:p>
          <a:p>
            <a:pPr lvl="1" algn="just">
              <a:lnSpc>
                <a:spcPct val="150000"/>
              </a:lnSpc>
            </a:pPr>
            <a:r>
              <a:rPr lang="en-US" altLang="en-US" sz="3200">
                <a:latin typeface="Times New Roman" panose="02020603050405020304" charset="0"/>
                <a:cs typeface="Times New Roman" panose="02020603050405020304" charset="0"/>
              </a:rPr>
              <a:t>- Xây dựng mô hình Random Forest </a:t>
            </a:r>
            <a:r>
              <a:rPr lang="en-US" altLang="en-US" sz="3200">
                <a:latin typeface="Times New Roman" panose="02020603050405020304" charset="0"/>
                <a:cs typeface="Times New Roman" panose="02020603050405020304" charset="0"/>
              </a:rPr>
              <a:t>đ</a:t>
            </a:r>
            <a:r>
              <a:rPr lang="en-US" altLang="en-US" sz="3200">
                <a:latin typeface="Times New Roman" panose="02020603050405020304" charset="0"/>
                <a:cs typeface="Times New Roman" panose="02020603050405020304" charset="0"/>
              </a:rPr>
              <a:t>ể dự </a:t>
            </a:r>
            <a:r>
              <a:rPr lang="en-US" altLang="en-US" sz="3200">
                <a:latin typeface="Times New Roman" panose="02020603050405020304" charset="0"/>
                <a:cs typeface="Times New Roman" panose="02020603050405020304" charset="0"/>
              </a:rPr>
              <a:t>đ</a:t>
            </a:r>
            <a:r>
              <a:rPr lang="en-US" altLang="en-US" sz="3200">
                <a:latin typeface="Times New Roman" panose="02020603050405020304" charset="0"/>
                <a:cs typeface="Times New Roman" panose="02020603050405020304" charset="0"/>
              </a:rPr>
              <a:t>oán nhóm nghề nghiệp.</a:t>
            </a:r>
            <a:endParaRPr lang="en-US" altLang="en-US" sz="3200">
              <a:latin typeface="Times New Roman" panose="02020603050405020304" charset="0"/>
              <a:cs typeface="Times New Roman" panose="02020603050405020304" charset="0"/>
            </a:endParaRPr>
          </a:p>
          <a:p>
            <a:pPr lvl="1" algn="just">
              <a:lnSpc>
                <a:spcPct val="150000"/>
              </a:lnSpc>
            </a:pPr>
            <a:r>
              <a:rPr lang="en-US" altLang="en-US" sz="3200">
                <a:latin typeface="Times New Roman" panose="02020603050405020304" charset="0"/>
                <a:cs typeface="Times New Roman" panose="02020603050405020304" charset="0"/>
              </a:rPr>
              <a:t>- Xây dựng mô hình K-Means </a:t>
            </a:r>
            <a:r>
              <a:rPr lang="en-US" altLang="en-US" sz="3200">
                <a:latin typeface="Times New Roman" panose="02020603050405020304" charset="0"/>
                <a:cs typeface="Times New Roman" panose="02020603050405020304" charset="0"/>
              </a:rPr>
              <a:t>đ</a:t>
            </a:r>
            <a:r>
              <a:rPr lang="en-US" altLang="en-US" sz="3200">
                <a:latin typeface="Times New Roman" panose="02020603050405020304" charset="0"/>
                <a:cs typeface="Times New Roman" panose="02020603050405020304" charset="0"/>
              </a:rPr>
              <a:t>ể phân cụm các vị trí tuyển dụng theo kỹ n</a:t>
            </a:r>
            <a:r>
              <a:rPr lang="en-US" altLang="en-US" sz="3200">
                <a:latin typeface="Times New Roman" panose="02020603050405020304" charset="0"/>
                <a:cs typeface="Times New Roman" panose="02020603050405020304" charset="0"/>
              </a:rPr>
              <a:t>ă</a:t>
            </a:r>
            <a:r>
              <a:rPr lang="en-US" altLang="en-US" sz="3200">
                <a:latin typeface="Times New Roman" panose="02020603050405020304" charset="0"/>
                <a:cs typeface="Times New Roman" panose="02020603050405020304" charset="0"/>
              </a:rPr>
              <a:t>ng.</a:t>
            </a:r>
            <a:endParaRPr lang="en-US" altLang="en-US" sz="3200">
              <a:latin typeface="Times New Roman" panose="02020603050405020304" charset="0"/>
              <a:cs typeface="Times New Roman" panose="0202060305040502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6DFCC"/>
        </a:solidFill>
        <a:effectLst/>
      </p:bgPr>
    </p:bg>
    <p:spTree>
      <p:nvGrpSpPr>
        <p:cNvPr id="1" name=""/>
        <p:cNvGrpSpPr/>
        <p:nvPr/>
      </p:nvGrpSpPr>
      <p:grpSpPr>
        <a:xfrm>
          <a:off x="0" y="0"/>
          <a:ext cx="0" cy="0"/>
          <a:chOff x="0" y="0"/>
          <a:chExt cx="0" cy="0"/>
        </a:xfrm>
      </p:grpSpPr>
      <p:grpSp>
        <p:nvGrpSpPr>
          <p:cNvPr id="2" name="Group 2"/>
          <p:cNvGrpSpPr/>
          <p:nvPr/>
        </p:nvGrpSpPr>
        <p:grpSpPr>
          <a:xfrm rot="0">
            <a:off x="693420" y="647700"/>
            <a:ext cx="16849090" cy="8889365"/>
            <a:chOff x="0" y="0"/>
            <a:chExt cx="73250134" cy="53807850"/>
          </a:xfrm>
        </p:grpSpPr>
        <p:sp>
          <p:nvSpPr>
            <p:cNvPr id="3" name="Freeform 3"/>
            <p:cNvSpPr/>
            <p:nvPr/>
          </p:nvSpPr>
          <p:spPr>
            <a:xfrm>
              <a:off x="72390" y="72390"/>
              <a:ext cx="73105357" cy="53663071"/>
            </a:xfrm>
            <a:custGeom>
              <a:avLst/>
              <a:gdLst/>
              <a:ahLst/>
              <a:cxnLst/>
              <a:rect l="l" t="t" r="r" b="b"/>
              <a:pathLst>
                <a:path w="73105357" h="53663071">
                  <a:moveTo>
                    <a:pt x="0" y="0"/>
                  </a:moveTo>
                  <a:lnTo>
                    <a:pt x="73105357" y="0"/>
                  </a:lnTo>
                  <a:lnTo>
                    <a:pt x="73105357" y="53663071"/>
                  </a:lnTo>
                  <a:lnTo>
                    <a:pt x="0" y="53663071"/>
                  </a:lnTo>
                  <a:lnTo>
                    <a:pt x="0" y="0"/>
                  </a:lnTo>
                  <a:close/>
                </a:path>
              </a:pathLst>
            </a:custGeom>
            <a:solidFill>
              <a:srgbClr val="FFF5ED"/>
            </a:solidFill>
          </p:spPr>
        </p:sp>
        <p:sp>
          <p:nvSpPr>
            <p:cNvPr id="4" name="Freeform 4"/>
            <p:cNvSpPr/>
            <p:nvPr/>
          </p:nvSpPr>
          <p:spPr>
            <a:xfrm>
              <a:off x="0" y="0"/>
              <a:ext cx="73250134" cy="53807847"/>
            </a:xfrm>
            <a:custGeom>
              <a:avLst/>
              <a:gdLst/>
              <a:ahLst/>
              <a:cxnLst/>
              <a:rect l="l" t="t" r="r" b="b"/>
              <a:pathLst>
                <a:path w="73250134" h="53807847">
                  <a:moveTo>
                    <a:pt x="73105355" y="53663069"/>
                  </a:moveTo>
                  <a:lnTo>
                    <a:pt x="73250134" y="53663069"/>
                  </a:lnTo>
                  <a:lnTo>
                    <a:pt x="73250134" y="53807847"/>
                  </a:lnTo>
                  <a:lnTo>
                    <a:pt x="73105355" y="53807847"/>
                  </a:lnTo>
                  <a:lnTo>
                    <a:pt x="73105355" y="53663069"/>
                  </a:lnTo>
                  <a:close/>
                  <a:moveTo>
                    <a:pt x="0" y="144780"/>
                  </a:moveTo>
                  <a:lnTo>
                    <a:pt x="144780" y="144780"/>
                  </a:lnTo>
                  <a:lnTo>
                    <a:pt x="144780" y="53663069"/>
                  </a:lnTo>
                  <a:lnTo>
                    <a:pt x="0" y="53663069"/>
                  </a:lnTo>
                  <a:lnTo>
                    <a:pt x="0" y="144780"/>
                  </a:lnTo>
                  <a:close/>
                  <a:moveTo>
                    <a:pt x="0" y="53663069"/>
                  </a:moveTo>
                  <a:lnTo>
                    <a:pt x="144780" y="53663069"/>
                  </a:lnTo>
                  <a:lnTo>
                    <a:pt x="144780" y="53807847"/>
                  </a:lnTo>
                  <a:lnTo>
                    <a:pt x="0" y="53807847"/>
                  </a:lnTo>
                  <a:lnTo>
                    <a:pt x="0" y="53663069"/>
                  </a:lnTo>
                  <a:close/>
                  <a:moveTo>
                    <a:pt x="73105355" y="144780"/>
                  </a:moveTo>
                  <a:lnTo>
                    <a:pt x="73250134" y="144780"/>
                  </a:lnTo>
                  <a:lnTo>
                    <a:pt x="73250134" y="53663069"/>
                  </a:lnTo>
                  <a:lnTo>
                    <a:pt x="73105355" y="53663069"/>
                  </a:lnTo>
                  <a:lnTo>
                    <a:pt x="73105355" y="144780"/>
                  </a:lnTo>
                  <a:close/>
                  <a:moveTo>
                    <a:pt x="144780" y="53663069"/>
                  </a:moveTo>
                  <a:lnTo>
                    <a:pt x="73105355" y="53663069"/>
                  </a:lnTo>
                  <a:lnTo>
                    <a:pt x="73105355" y="53807847"/>
                  </a:lnTo>
                  <a:lnTo>
                    <a:pt x="144780" y="53807847"/>
                  </a:lnTo>
                  <a:lnTo>
                    <a:pt x="144780" y="53663069"/>
                  </a:lnTo>
                  <a:close/>
                  <a:moveTo>
                    <a:pt x="73105355" y="0"/>
                  </a:moveTo>
                  <a:lnTo>
                    <a:pt x="73250134" y="0"/>
                  </a:lnTo>
                  <a:lnTo>
                    <a:pt x="73250134" y="144780"/>
                  </a:lnTo>
                  <a:lnTo>
                    <a:pt x="73105355" y="144780"/>
                  </a:lnTo>
                  <a:lnTo>
                    <a:pt x="73105355" y="0"/>
                  </a:lnTo>
                  <a:close/>
                  <a:moveTo>
                    <a:pt x="0" y="0"/>
                  </a:moveTo>
                  <a:lnTo>
                    <a:pt x="144780" y="0"/>
                  </a:lnTo>
                  <a:lnTo>
                    <a:pt x="144780" y="144780"/>
                  </a:lnTo>
                  <a:lnTo>
                    <a:pt x="0" y="144780"/>
                  </a:lnTo>
                  <a:lnTo>
                    <a:pt x="0" y="0"/>
                  </a:lnTo>
                  <a:close/>
                  <a:moveTo>
                    <a:pt x="144780" y="0"/>
                  </a:moveTo>
                  <a:lnTo>
                    <a:pt x="73105355" y="0"/>
                  </a:lnTo>
                  <a:lnTo>
                    <a:pt x="73105355" y="144780"/>
                  </a:lnTo>
                  <a:lnTo>
                    <a:pt x="144780" y="144780"/>
                  </a:lnTo>
                  <a:lnTo>
                    <a:pt x="144780" y="0"/>
                  </a:lnTo>
                  <a:close/>
                </a:path>
              </a:pathLst>
            </a:custGeom>
            <a:solidFill>
              <a:srgbClr val="000000"/>
            </a:solidFill>
          </p:spPr>
        </p:sp>
      </p:grpSp>
      <p:sp>
        <p:nvSpPr>
          <p:cNvPr id="10" name="Text Box 9"/>
          <p:cNvSpPr txBox="1"/>
          <p:nvPr/>
        </p:nvSpPr>
        <p:spPr>
          <a:xfrm>
            <a:off x="1295400" y="952500"/>
            <a:ext cx="14596110" cy="460375"/>
          </a:xfrm>
          <a:prstGeom prst="rect">
            <a:avLst/>
          </a:prstGeom>
          <a:noFill/>
        </p:spPr>
        <p:txBody>
          <a:bodyPr wrap="square" rtlCol="0">
            <a:spAutoFit/>
          </a:bodyPr>
          <a:p>
            <a:r>
              <a:rPr lang="en-US" altLang="en-US" sz="2400" b="1">
                <a:latin typeface="Times New Roman" panose="02020603050405020304" charset="0"/>
                <a:cs typeface="Times New Roman" panose="02020603050405020304" charset="0"/>
              </a:rPr>
              <a:t>Câu 1. Thành phố nào có nhu cầu tuyển dụng CNTT cao nhất tại Việt Nam?</a:t>
            </a:r>
            <a:endParaRPr lang="en-US" altLang="en-US" sz="2400" b="1">
              <a:latin typeface="Times New Roman" panose="02020603050405020304" charset="0"/>
              <a:cs typeface="Times New Roman" panose="02020603050405020304" charset="0"/>
            </a:endParaRPr>
          </a:p>
        </p:txBody>
      </p:sp>
      <p:pic>
        <p:nvPicPr>
          <p:cNvPr id="11" name="Picture 10"/>
          <p:cNvPicPr>
            <a:picLocks noChangeAspect="1"/>
          </p:cNvPicPr>
          <p:nvPr/>
        </p:nvPicPr>
        <p:blipFill>
          <a:blip r:embed="rId1"/>
          <a:stretch>
            <a:fillRect/>
          </a:stretch>
        </p:blipFill>
        <p:spPr>
          <a:xfrm>
            <a:off x="1600200" y="4838700"/>
            <a:ext cx="7197725" cy="4471670"/>
          </a:xfrm>
          <a:prstGeom prst="rect">
            <a:avLst/>
          </a:prstGeom>
        </p:spPr>
      </p:pic>
      <p:sp>
        <p:nvSpPr>
          <p:cNvPr id="12" name="Text Box 11"/>
          <p:cNvSpPr txBox="1"/>
          <p:nvPr/>
        </p:nvSpPr>
        <p:spPr>
          <a:xfrm>
            <a:off x="1447800" y="1562100"/>
            <a:ext cx="7491730" cy="3746500"/>
          </a:xfrm>
          <a:prstGeom prst="rect">
            <a:avLst/>
          </a:prstGeom>
          <a:noFill/>
        </p:spPr>
        <p:txBody>
          <a:bodyPr wrap="square" rtlCol="0">
            <a:noAutofit/>
          </a:bodyPr>
          <a:p>
            <a:pPr indent="457200" algn="just"/>
            <a:r>
              <a:rPr lang="en-US" altLang="en-US" sz="2000">
                <a:latin typeface="Times New Roman" panose="02020603050405020304" charset="0"/>
                <a:cs typeface="Times New Roman" panose="02020603050405020304" charset="0"/>
              </a:rPr>
              <a:t>Kết quả thống kê cho thấy TP. Hồ Chí Minh là địa phương có nhu cầu tuyển dụng CNTT cao nhất với 1368 tin tuyển dụng, tiếp theo là Hà Nội với 885 tin tuyển dụng. Điều này cho thấy nhu cầu nhân lực CNTT tập trung chủ yếu tại hai trung tâm kinh tế lớn của cả nước.</a:t>
            </a:r>
            <a:endParaRPr lang="en-US" altLang="en-US" sz="2000">
              <a:latin typeface="Times New Roman" panose="02020603050405020304" charset="0"/>
              <a:cs typeface="Times New Roman" panose="02020603050405020304" charset="0"/>
            </a:endParaRPr>
          </a:p>
          <a:p>
            <a:pPr algn="just"/>
            <a:endParaRPr lang="en-US" altLang="en-US" sz="2000">
              <a:latin typeface="Times New Roman" panose="02020603050405020304" charset="0"/>
              <a:cs typeface="Times New Roman" panose="02020603050405020304" charset="0"/>
            </a:endParaRPr>
          </a:p>
          <a:p>
            <a:pPr indent="457200" algn="just"/>
            <a:r>
              <a:rPr lang="en-US" altLang="en-US" sz="2000">
                <a:latin typeface="Times New Roman" panose="02020603050405020304" charset="0"/>
                <a:cs typeface="Times New Roman" panose="02020603050405020304" charset="0"/>
              </a:rPr>
              <a:t>Ngoài ra, các khu vực như Cầu Giấy, Nam Từ Liêm, District 1 và Tân Bình cũng có số lượng tuyển dụng khá cao, phản ánh sự tập trung của nhiều doanh nghiệp công nghệ tại các khu vực này. Thành phố Đà Nẵng cũng xuất hiện trong nhóm có nhu cầu tuyển dụng đáng kể, cho thấy sự phát triển của ngành CNTT tại khu vực miền Trung.</a:t>
            </a:r>
            <a:endParaRPr lang="en-US" altLang="en-US" sz="2000">
              <a:latin typeface="Times New Roman" panose="02020603050405020304" charset="0"/>
              <a:cs typeface="Times New Roman" panose="02020603050405020304" charset="0"/>
            </a:endParaRPr>
          </a:p>
        </p:txBody>
      </p:sp>
      <p:pic>
        <p:nvPicPr>
          <p:cNvPr id="21" name="Picture 20"/>
          <p:cNvPicPr>
            <a:picLocks noChangeAspect="1"/>
          </p:cNvPicPr>
          <p:nvPr/>
        </p:nvPicPr>
        <p:blipFill>
          <a:blip r:embed="rId2"/>
          <a:stretch>
            <a:fillRect/>
          </a:stretch>
        </p:blipFill>
        <p:spPr>
          <a:xfrm>
            <a:off x="9372600" y="1638300"/>
            <a:ext cx="7778115" cy="6470015"/>
          </a:xfrm>
          <a:prstGeom prst="rect">
            <a:avLst/>
          </a:prstGeom>
        </p:spPr>
      </p:pic>
      <p:sp>
        <p:nvSpPr>
          <p:cNvPr id="22" name="Text Box 21"/>
          <p:cNvSpPr txBox="1"/>
          <p:nvPr/>
        </p:nvSpPr>
        <p:spPr>
          <a:xfrm>
            <a:off x="9114155" y="8420100"/>
            <a:ext cx="8294370" cy="953135"/>
          </a:xfrm>
          <a:prstGeom prst="rect">
            <a:avLst/>
          </a:prstGeom>
          <a:noFill/>
        </p:spPr>
        <p:txBody>
          <a:bodyPr wrap="square" rtlCol="0">
            <a:spAutoFit/>
          </a:bodyPr>
          <a:p>
            <a:pPr algn="ctr"/>
            <a:r>
              <a:rPr lang="en-US" altLang="en-US" sz="2800">
                <a:latin typeface="Times New Roman" panose="02020603050405020304" charset="0"/>
                <a:cs typeface="Times New Roman" panose="02020603050405020304" charset="0"/>
              </a:rPr>
              <a:t>Biểu đồ cột thể hiện số lượng tin tuyển dụng CNTT theo thành phố</a:t>
            </a:r>
            <a:endParaRPr lang="en-US" altLang="en-US" sz="2800">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6DFCC"/>
        </a:solidFill>
        <a:effectLst/>
      </p:bgPr>
    </p:bg>
    <p:spTree>
      <p:nvGrpSpPr>
        <p:cNvPr id="1" name=""/>
        <p:cNvGrpSpPr/>
        <p:nvPr/>
      </p:nvGrpSpPr>
      <p:grpSpPr>
        <a:xfrm>
          <a:off x="0" y="0"/>
          <a:ext cx="0" cy="0"/>
          <a:chOff x="0" y="0"/>
          <a:chExt cx="0" cy="0"/>
        </a:xfrm>
      </p:grpSpPr>
      <p:grpSp>
        <p:nvGrpSpPr>
          <p:cNvPr id="5" name="Group 5"/>
          <p:cNvGrpSpPr/>
          <p:nvPr/>
        </p:nvGrpSpPr>
        <p:grpSpPr>
          <a:xfrm rot="0">
            <a:off x="649605" y="675640"/>
            <a:ext cx="16823055" cy="9076055"/>
            <a:chOff x="0" y="0"/>
            <a:chExt cx="61814366" cy="62165809"/>
          </a:xfrm>
        </p:grpSpPr>
        <p:sp>
          <p:nvSpPr>
            <p:cNvPr id="6" name="Freeform 6"/>
            <p:cNvSpPr/>
            <p:nvPr/>
          </p:nvSpPr>
          <p:spPr>
            <a:xfrm>
              <a:off x="72390" y="72390"/>
              <a:ext cx="61669584" cy="62021029"/>
            </a:xfrm>
            <a:custGeom>
              <a:avLst/>
              <a:gdLst/>
              <a:ahLst/>
              <a:cxnLst/>
              <a:rect l="l" t="t" r="r" b="b"/>
              <a:pathLst>
                <a:path w="61669584" h="62021029">
                  <a:moveTo>
                    <a:pt x="0" y="0"/>
                  </a:moveTo>
                  <a:lnTo>
                    <a:pt x="61669584" y="0"/>
                  </a:lnTo>
                  <a:lnTo>
                    <a:pt x="61669584" y="62021029"/>
                  </a:lnTo>
                  <a:lnTo>
                    <a:pt x="0" y="62021029"/>
                  </a:lnTo>
                  <a:lnTo>
                    <a:pt x="0" y="0"/>
                  </a:lnTo>
                  <a:close/>
                </a:path>
              </a:pathLst>
            </a:custGeom>
            <a:solidFill>
              <a:srgbClr val="FFF5ED"/>
            </a:solidFill>
          </p:spPr>
        </p:sp>
        <p:sp>
          <p:nvSpPr>
            <p:cNvPr id="7" name="Freeform 7"/>
            <p:cNvSpPr/>
            <p:nvPr/>
          </p:nvSpPr>
          <p:spPr>
            <a:xfrm>
              <a:off x="0" y="0"/>
              <a:ext cx="61814366" cy="62165812"/>
            </a:xfrm>
            <a:custGeom>
              <a:avLst/>
              <a:gdLst/>
              <a:ahLst/>
              <a:cxnLst/>
              <a:rect l="l" t="t" r="r" b="b"/>
              <a:pathLst>
                <a:path w="61814366" h="62165812">
                  <a:moveTo>
                    <a:pt x="61669588" y="62021027"/>
                  </a:moveTo>
                  <a:lnTo>
                    <a:pt x="61814366" y="62021027"/>
                  </a:lnTo>
                  <a:lnTo>
                    <a:pt x="61814366" y="62165812"/>
                  </a:lnTo>
                  <a:lnTo>
                    <a:pt x="61669588" y="62165812"/>
                  </a:lnTo>
                  <a:lnTo>
                    <a:pt x="61669588" y="62021027"/>
                  </a:lnTo>
                  <a:close/>
                  <a:moveTo>
                    <a:pt x="0" y="144780"/>
                  </a:moveTo>
                  <a:lnTo>
                    <a:pt x="144780" y="144780"/>
                  </a:lnTo>
                  <a:lnTo>
                    <a:pt x="144780" y="62021027"/>
                  </a:lnTo>
                  <a:lnTo>
                    <a:pt x="0" y="62021027"/>
                  </a:lnTo>
                  <a:lnTo>
                    <a:pt x="0" y="144780"/>
                  </a:lnTo>
                  <a:close/>
                  <a:moveTo>
                    <a:pt x="0" y="62021027"/>
                  </a:moveTo>
                  <a:lnTo>
                    <a:pt x="144780" y="62021027"/>
                  </a:lnTo>
                  <a:lnTo>
                    <a:pt x="144780" y="62165812"/>
                  </a:lnTo>
                  <a:lnTo>
                    <a:pt x="0" y="62165812"/>
                  </a:lnTo>
                  <a:lnTo>
                    <a:pt x="0" y="62021027"/>
                  </a:lnTo>
                  <a:close/>
                  <a:moveTo>
                    <a:pt x="61669588" y="144780"/>
                  </a:moveTo>
                  <a:lnTo>
                    <a:pt x="61814366" y="144780"/>
                  </a:lnTo>
                  <a:lnTo>
                    <a:pt x="61814366" y="62021027"/>
                  </a:lnTo>
                  <a:lnTo>
                    <a:pt x="61669588" y="62021027"/>
                  </a:lnTo>
                  <a:lnTo>
                    <a:pt x="61669588" y="144780"/>
                  </a:lnTo>
                  <a:close/>
                  <a:moveTo>
                    <a:pt x="144780" y="62021027"/>
                  </a:moveTo>
                  <a:lnTo>
                    <a:pt x="61669588" y="62021027"/>
                  </a:lnTo>
                  <a:lnTo>
                    <a:pt x="61669588" y="62165812"/>
                  </a:lnTo>
                  <a:lnTo>
                    <a:pt x="144780" y="62165812"/>
                  </a:lnTo>
                  <a:lnTo>
                    <a:pt x="144780" y="62021027"/>
                  </a:lnTo>
                  <a:close/>
                  <a:moveTo>
                    <a:pt x="61669588" y="0"/>
                  </a:moveTo>
                  <a:lnTo>
                    <a:pt x="61814366" y="0"/>
                  </a:lnTo>
                  <a:lnTo>
                    <a:pt x="61814366" y="144780"/>
                  </a:lnTo>
                  <a:lnTo>
                    <a:pt x="61669588" y="144780"/>
                  </a:lnTo>
                  <a:lnTo>
                    <a:pt x="61669588" y="0"/>
                  </a:lnTo>
                  <a:close/>
                  <a:moveTo>
                    <a:pt x="0" y="0"/>
                  </a:moveTo>
                  <a:lnTo>
                    <a:pt x="144780" y="0"/>
                  </a:lnTo>
                  <a:lnTo>
                    <a:pt x="144780" y="144780"/>
                  </a:lnTo>
                  <a:lnTo>
                    <a:pt x="0" y="144780"/>
                  </a:lnTo>
                  <a:lnTo>
                    <a:pt x="0" y="0"/>
                  </a:lnTo>
                  <a:close/>
                  <a:moveTo>
                    <a:pt x="144780" y="0"/>
                  </a:moveTo>
                  <a:lnTo>
                    <a:pt x="61669588" y="0"/>
                  </a:lnTo>
                  <a:lnTo>
                    <a:pt x="61669588" y="144780"/>
                  </a:lnTo>
                  <a:lnTo>
                    <a:pt x="144780" y="144780"/>
                  </a:lnTo>
                  <a:lnTo>
                    <a:pt x="144780" y="0"/>
                  </a:lnTo>
                  <a:close/>
                </a:path>
              </a:pathLst>
            </a:custGeom>
            <a:solidFill>
              <a:srgbClr val="000000"/>
            </a:solidFill>
          </p:spPr>
        </p:sp>
      </p:grpSp>
      <p:sp>
        <p:nvSpPr>
          <p:cNvPr id="14" name="Text Box 13"/>
          <p:cNvSpPr txBox="1"/>
          <p:nvPr/>
        </p:nvSpPr>
        <p:spPr>
          <a:xfrm>
            <a:off x="1066800" y="1485900"/>
            <a:ext cx="10304145" cy="4523105"/>
          </a:xfrm>
          <a:prstGeom prst="rect">
            <a:avLst/>
          </a:prstGeom>
          <a:noFill/>
        </p:spPr>
        <p:txBody>
          <a:bodyPr wrap="square" rtlCol="0">
            <a:spAutoFit/>
          </a:bodyPr>
          <a:p>
            <a:pPr algn="just"/>
            <a:r>
              <a:rPr lang="en-US" altLang="en-US" sz="2400">
                <a:latin typeface="Times New Roman" panose="02020603050405020304" charset="0"/>
                <a:cs typeface="Times New Roman" panose="02020603050405020304" charset="0"/>
              </a:rPr>
              <a:t>* Kết quả phân tích vị trí CNTT được tuyển dụng nhiều nhất</a:t>
            </a:r>
            <a:endParaRPr lang="en-US" altLang="en-US" sz="2400">
              <a:latin typeface="Times New Roman" panose="02020603050405020304" charset="0"/>
              <a:cs typeface="Times New Roman" panose="02020603050405020304" charset="0"/>
            </a:endParaRPr>
          </a:p>
          <a:p>
            <a:pPr algn="just"/>
            <a:r>
              <a:rPr lang="en-US" altLang="en-US" sz="2400">
                <a:latin typeface="Times New Roman" panose="02020603050405020304" charset="0"/>
                <a:cs typeface="Times New Roman" panose="02020603050405020304" charset="0"/>
              </a:rPr>
              <a:t>- Nhóm Data / AI Engineer có số lượng tuyển dụng cao nhất trong các nhóm nghề đã được xác định với 412 tin tuyển dụng, cho thấy nhu cầu về dữ liệu và trí tuệ nhân tạo đang phát triển mạnh.</a:t>
            </a:r>
            <a:endParaRPr lang="en-US" altLang="en-US" sz="2400">
              <a:latin typeface="Times New Roman" panose="02020603050405020304" charset="0"/>
              <a:cs typeface="Times New Roman" panose="02020603050405020304" charset="0"/>
            </a:endParaRPr>
          </a:p>
          <a:p>
            <a:pPr algn="just"/>
            <a:r>
              <a:rPr lang="en-US" altLang="en-US" sz="2400">
                <a:latin typeface="Times New Roman" panose="02020603050405020304" charset="0"/>
                <a:cs typeface="Times New Roman" panose="02020603050405020304" charset="0"/>
              </a:rPr>
              <a:t>- Business Analyst (359 tin) và Backend Developer (295 tin) cũng có nhu cầu tuyển dụng lớn, phản ánh xu hướng doanh nghiệp chú trọng cả phân tích nghiệp vụ và phát triển hệ thống.</a:t>
            </a:r>
            <a:endParaRPr lang="en-US" altLang="en-US" sz="2400">
              <a:latin typeface="Times New Roman" panose="02020603050405020304" charset="0"/>
              <a:cs typeface="Times New Roman" panose="02020603050405020304" charset="0"/>
            </a:endParaRPr>
          </a:p>
          <a:p>
            <a:pPr algn="just"/>
            <a:r>
              <a:rPr lang="en-US" altLang="en-US" sz="2400">
                <a:latin typeface="Times New Roman" panose="02020603050405020304" charset="0"/>
                <a:cs typeface="Times New Roman" panose="02020603050405020304" charset="0"/>
              </a:rPr>
              <a:t>- Các vị trí Frontend Developer, Mobile Developer và DevOps Engineer tiếp tục được tuyển dụng nhiều, cho thấy nhu cầu phát triển ứng dụng và vận hành hệ thống vẫn rất cao.</a:t>
            </a:r>
            <a:endParaRPr lang="en-US" altLang="en-US" sz="2400">
              <a:latin typeface="Times New Roman" panose="02020603050405020304" charset="0"/>
              <a:cs typeface="Times New Roman" panose="02020603050405020304" charset="0"/>
            </a:endParaRPr>
          </a:p>
          <a:p>
            <a:pPr algn="just"/>
            <a:r>
              <a:rPr lang="en-US" altLang="en-US" sz="2400">
                <a:latin typeface="Times New Roman" panose="02020603050405020304" charset="0"/>
                <a:cs typeface="Times New Roman" panose="02020603050405020304" charset="0"/>
              </a:rPr>
              <a:t>- Nhóm "Khác / Không xác định" chiếm tỷ lệ lớn (1577 tin tuyển dụng) do nhiều vị trí chưa được phân loại rõ ràng trong bộ dữ liệu.</a:t>
            </a:r>
            <a:endParaRPr lang="en-US" altLang="en-US" sz="2400">
              <a:latin typeface="Times New Roman" panose="02020603050405020304" charset="0"/>
              <a:cs typeface="Times New Roman" panose="02020603050405020304" charset="0"/>
            </a:endParaRPr>
          </a:p>
        </p:txBody>
      </p:sp>
      <p:sp>
        <p:nvSpPr>
          <p:cNvPr id="15" name="Text Box 14"/>
          <p:cNvSpPr txBox="1"/>
          <p:nvPr/>
        </p:nvSpPr>
        <p:spPr>
          <a:xfrm>
            <a:off x="1066800" y="876300"/>
            <a:ext cx="13055600" cy="521970"/>
          </a:xfrm>
          <a:prstGeom prst="rect">
            <a:avLst/>
          </a:prstGeom>
          <a:noFill/>
        </p:spPr>
        <p:txBody>
          <a:bodyPr wrap="square" rtlCol="0">
            <a:spAutoFit/>
          </a:bodyPr>
          <a:p>
            <a:r>
              <a:rPr lang="en-US" altLang="en-US" sz="2800" b="1">
                <a:latin typeface="Times New Roman" panose="02020603050405020304" charset="0"/>
                <a:cs typeface="Times New Roman" panose="02020603050405020304" charset="0"/>
              </a:rPr>
              <a:t>Câu 2. Những vị trí CNTT nào đang được tuyển dụng nhiều nhất?</a:t>
            </a:r>
            <a:endParaRPr lang="en-US" altLang="en-US" sz="2800" b="1">
              <a:latin typeface="Times New Roman" panose="02020603050405020304" charset="0"/>
              <a:cs typeface="Times New Roman" panose="02020603050405020304" charset="0"/>
            </a:endParaRPr>
          </a:p>
        </p:txBody>
      </p:sp>
      <p:pic>
        <p:nvPicPr>
          <p:cNvPr id="8" name="Picture 7"/>
          <p:cNvPicPr>
            <a:picLocks noChangeAspect="1"/>
          </p:cNvPicPr>
          <p:nvPr/>
        </p:nvPicPr>
        <p:blipFill>
          <a:blip r:embed="rId1"/>
          <a:srcRect r="10311"/>
          <a:stretch>
            <a:fillRect/>
          </a:stretch>
        </p:blipFill>
        <p:spPr>
          <a:xfrm>
            <a:off x="11658600" y="876300"/>
            <a:ext cx="5347335" cy="6356985"/>
          </a:xfrm>
          <a:prstGeom prst="rect">
            <a:avLst/>
          </a:prstGeom>
        </p:spPr>
      </p:pic>
      <p:pic>
        <p:nvPicPr>
          <p:cNvPr id="9" name="Picture 8"/>
          <p:cNvPicPr>
            <a:picLocks noChangeAspect="1"/>
          </p:cNvPicPr>
          <p:nvPr/>
        </p:nvPicPr>
        <p:blipFill>
          <a:blip r:embed="rId2"/>
          <a:stretch>
            <a:fillRect/>
          </a:stretch>
        </p:blipFill>
        <p:spPr>
          <a:xfrm>
            <a:off x="3124200" y="6096635"/>
            <a:ext cx="8182610" cy="37020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6DFCC"/>
        </a:solidFill>
        <a:effectLst/>
      </p:bgPr>
    </p:bg>
    <p:spTree>
      <p:nvGrpSpPr>
        <p:cNvPr id="1" name=""/>
        <p:cNvGrpSpPr/>
        <p:nvPr/>
      </p:nvGrpSpPr>
      <p:grpSpPr>
        <a:xfrm>
          <a:off x="0" y="0"/>
          <a:ext cx="0" cy="0"/>
          <a:chOff x="0" y="0"/>
          <a:chExt cx="0" cy="0"/>
        </a:xfrm>
      </p:grpSpPr>
      <p:sp>
        <p:nvSpPr>
          <p:cNvPr id="17" name="Text Box 16"/>
          <p:cNvSpPr txBox="1"/>
          <p:nvPr/>
        </p:nvSpPr>
        <p:spPr>
          <a:xfrm>
            <a:off x="890270" y="723900"/>
            <a:ext cx="10504170" cy="583565"/>
          </a:xfrm>
          <a:prstGeom prst="rect">
            <a:avLst/>
          </a:prstGeom>
          <a:noFill/>
        </p:spPr>
        <p:txBody>
          <a:bodyPr wrap="square" rtlCol="0">
            <a:spAutoFit/>
          </a:bodyPr>
          <a:p>
            <a:r>
              <a:rPr lang="en-US" altLang="en-US" sz="3200" b="1">
                <a:latin typeface="Times New Roman" panose="02020603050405020304" charset="0"/>
                <a:cs typeface="Times New Roman" panose="02020603050405020304" charset="0"/>
              </a:rPr>
              <a:t>Câu 3 Những kỹ n</a:t>
            </a:r>
            <a:r>
              <a:rPr lang="en-US" altLang="en-US" sz="3200" b="1">
                <a:latin typeface="Times New Roman" panose="02020603050405020304" charset="0"/>
                <a:cs typeface="Times New Roman" panose="02020603050405020304" charset="0"/>
              </a:rPr>
              <a:t>ă</a:t>
            </a:r>
            <a:r>
              <a:rPr lang="en-US" altLang="en-US" sz="3200" b="1">
                <a:latin typeface="Times New Roman" panose="02020603050405020304" charset="0"/>
                <a:cs typeface="Times New Roman" panose="02020603050405020304" charset="0"/>
              </a:rPr>
              <a:t>ng CNTT nào </a:t>
            </a:r>
            <a:r>
              <a:rPr lang="en-US" altLang="en-US" sz="3200" b="1">
                <a:latin typeface="Times New Roman" panose="02020603050405020304" charset="0"/>
                <a:cs typeface="Times New Roman" panose="02020603050405020304" charset="0"/>
              </a:rPr>
              <a:t>đư</a:t>
            </a:r>
            <a:r>
              <a:rPr lang="en-US" altLang="en-US" sz="3200" b="1">
                <a:latin typeface="Times New Roman" panose="02020603050405020304" charset="0"/>
                <a:cs typeface="Times New Roman" panose="02020603050405020304" charset="0"/>
              </a:rPr>
              <a:t>ợc yêu cầu nhiều nhất?</a:t>
            </a:r>
            <a:endParaRPr lang="en-US" altLang="en-US" sz="3200" b="1">
              <a:latin typeface="Times New Roman" panose="02020603050405020304" charset="0"/>
              <a:cs typeface="Times New Roman" panose="02020603050405020304" charset="0"/>
            </a:endParaRPr>
          </a:p>
        </p:txBody>
      </p:sp>
      <p:pic>
        <p:nvPicPr>
          <p:cNvPr id="18" name="Picture 17"/>
          <p:cNvPicPr>
            <a:picLocks noChangeAspect="1"/>
          </p:cNvPicPr>
          <p:nvPr/>
        </p:nvPicPr>
        <p:blipFill>
          <a:blip r:embed="rId1"/>
          <a:stretch>
            <a:fillRect/>
          </a:stretch>
        </p:blipFill>
        <p:spPr>
          <a:xfrm>
            <a:off x="11963400" y="1181100"/>
            <a:ext cx="5438775" cy="8317230"/>
          </a:xfrm>
          <a:prstGeom prst="rect">
            <a:avLst/>
          </a:prstGeom>
        </p:spPr>
      </p:pic>
      <p:sp>
        <p:nvSpPr>
          <p:cNvPr id="19" name="Text Box 18"/>
          <p:cNvSpPr txBox="1"/>
          <p:nvPr/>
        </p:nvSpPr>
        <p:spPr>
          <a:xfrm>
            <a:off x="914400" y="1866900"/>
            <a:ext cx="10480040" cy="6123940"/>
          </a:xfrm>
          <a:prstGeom prst="rect">
            <a:avLst/>
          </a:prstGeom>
          <a:noFill/>
        </p:spPr>
        <p:txBody>
          <a:bodyPr wrap="square" rtlCol="0">
            <a:spAutoFit/>
          </a:bodyPr>
          <a:p>
            <a:pPr indent="457200" algn="just"/>
            <a:r>
              <a:rPr lang="en-US" altLang="en-US" sz="2800">
                <a:latin typeface="Times New Roman" panose="02020603050405020304" charset="0"/>
                <a:cs typeface="Times New Roman" panose="02020603050405020304" charset="0"/>
              </a:rPr>
              <a:t>Kết quả thống kê cho thấy Python (44 lần) và Java (43 lần) là hai kỹ n</a:t>
            </a:r>
            <a:r>
              <a:rPr lang="en-US" altLang="en-US" sz="2800">
                <a:latin typeface="Times New Roman" panose="02020603050405020304" charset="0"/>
                <a:cs typeface="Times New Roman" panose="02020603050405020304" charset="0"/>
              </a:rPr>
              <a:t>ă</a:t>
            </a:r>
            <a:r>
              <a:rPr lang="en-US" altLang="en-US" sz="2800">
                <a:latin typeface="Times New Roman" panose="02020603050405020304" charset="0"/>
                <a:cs typeface="Times New Roman" panose="02020603050405020304" charset="0"/>
              </a:rPr>
              <a:t>ng </a:t>
            </a:r>
            <a:r>
              <a:rPr lang="en-US" altLang="en-US" sz="2800">
                <a:latin typeface="Times New Roman" panose="02020603050405020304" charset="0"/>
                <a:cs typeface="Times New Roman" panose="02020603050405020304" charset="0"/>
              </a:rPr>
              <a:t>đư</a:t>
            </a:r>
            <a:r>
              <a:rPr lang="en-US" altLang="en-US" sz="2800">
                <a:latin typeface="Times New Roman" panose="02020603050405020304" charset="0"/>
                <a:cs typeface="Times New Roman" panose="02020603050405020304" charset="0"/>
              </a:rPr>
              <a:t>ợc yêu cầu nhiều nhất trong các tin tuyển dụng CNTT. </a:t>
            </a:r>
            <a:r>
              <a:rPr lang="en-US" altLang="en-US" sz="2800">
                <a:latin typeface="Times New Roman" panose="02020603050405020304" charset="0"/>
                <a:cs typeface="Times New Roman" panose="02020603050405020304" charset="0"/>
              </a:rPr>
              <a:t>Đ</a:t>
            </a:r>
            <a:r>
              <a:rPr lang="en-US" altLang="en-US" sz="2800">
                <a:latin typeface="Times New Roman" panose="02020603050405020304" charset="0"/>
                <a:cs typeface="Times New Roman" panose="02020603050405020304" charset="0"/>
              </a:rPr>
              <a:t>iều này cho thấy nhu cầu tuyển dụng hiện nay tập trung mạnh vào các vị trí phát triển phần mềm, phân tích dữ liệu và trí tuệ nhân tạo.</a:t>
            </a:r>
            <a:endParaRPr lang="en-US" altLang="en-US" sz="2800">
              <a:latin typeface="Times New Roman" panose="02020603050405020304" charset="0"/>
              <a:cs typeface="Times New Roman" panose="02020603050405020304" charset="0"/>
            </a:endParaRPr>
          </a:p>
          <a:p>
            <a:pPr algn="just"/>
            <a:endParaRPr lang="en-US" altLang="en-US" sz="2800">
              <a:latin typeface="Times New Roman" panose="02020603050405020304" charset="0"/>
              <a:cs typeface="Times New Roman" panose="02020603050405020304" charset="0"/>
            </a:endParaRPr>
          </a:p>
          <a:p>
            <a:pPr indent="457200" algn="just"/>
            <a:r>
              <a:rPr lang="en-US" altLang="en-US" sz="2800">
                <a:latin typeface="Times New Roman" panose="02020603050405020304" charset="0"/>
                <a:cs typeface="Times New Roman" panose="02020603050405020304" charset="0"/>
              </a:rPr>
              <a:t>Các kỹ n</a:t>
            </a:r>
            <a:r>
              <a:rPr lang="en-US" altLang="en-US" sz="2800">
                <a:latin typeface="Times New Roman" panose="02020603050405020304" charset="0"/>
                <a:cs typeface="Times New Roman" panose="02020603050405020304" charset="0"/>
              </a:rPr>
              <a:t>ă</a:t>
            </a:r>
            <a:r>
              <a:rPr lang="en-US" altLang="en-US" sz="2800">
                <a:latin typeface="Times New Roman" panose="02020603050405020304" charset="0"/>
                <a:cs typeface="Times New Roman" panose="02020603050405020304" charset="0"/>
              </a:rPr>
              <a:t>ng nh</a:t>
            </a:r>
            <a:r>
              <a:rPr lang="en-US" altLang="en-US" sz="2800">
                <a:latin typeface="Times New Roman" panose="02020603050405020304" charset="0"/>
                <a:cs typeface="Times New Roman" panose="02020603050405020304" charset="0"/>
              </a:rPr>
              <a:t>ư </a:t>
            </a:r>
            <a:r>
              <a:rPr lang="en-US" altLang="en-US" sz="2800">
                <a:latin typeface="Times New Roman" panose="02020603050405020304" charset="0"/>
                <a:cs typeface="Times New Roman" panose="02020603050405020304" charset="0"/>
              </a:rPr>
              <a:t>ReactJS, NodeJS, JavaScript, HTML và CSS c</a:t>
            </a:r>
            <a:r>
              <a:rPr lang="en-US" altLang="en-US" sz="2800">
                <a:latin typeface="Times New Roman" panose="02020603050405020304" charset="0"/>
                <a:cs typeface="Times New Roman" panose="02020603050405020304" charset="0"/>
              </a:rPr>
              <a:t>ũ</a:t>
            </a:r>
            <a:r>
              <a:rPr lang="en-US" altLang="en-US" sz="2800">
                <a:latin typeface="Times New Roman" panose="02020603050405020304" charset="0"/>
                <a:cs typeface="Times New Roman" panose="02020603050405020304" charset="0"/>
              </a:rPr>
              <a:t>ng xuất hiện với tần suất cao, phản ánh nhu cầu lớn trong l</a:t>
            </a:r>
            <a:r>
              <a:rPr lang="en-US" altLang="en-US" sz="2800">
                <a:latin typeface="Times New Roman" panose="02020603050405020304" charset="0"/>
                <a:cs typeface="Times New Roman" panose="02020603050405020304" charset="0"/>
              </a:rPr>
              <a:t>ĩ</a:t>
            </a:r>
            <a:r>
              <a:rPr lang="en-US" altLang="en-US" sz="2800">
                <a:latin typeface="Times New Roman" panose="02020603050405020304" charset="0"/>
                <a:cs typeface="Times New Roman" panose="02020603050405020304" charset="0"/>
              </a:rPr>
              <a:t>nh vực phát triển web. Bên cạnh </a:t>
            </a:r>
            <a:r>
              <a:rPr lang="en-US" altLang="en-US" sz="2800">
                <a:latin typeface="Times New Roman" panose="02020603050405020304" charset="0"/>
                <a:cs typeface="Times New Roman" panose="02020603050405020304" charset="0"/>
              </a:rPr>
              <a:t>đ</a:t>
            </a:r>
            <a:r>
              <a:rPr lang="en-US" altLang="en-US" sz="2800">
                <a:latin typeface="Times New Roman" panose="02020603050405020304" charset="0"/>
                <a:cs typeface="Times New Roman" panose="02020603050405020304" charset="0"/>
              </a:rPr>
              <a:t>ó, MySQL và MongoDB là những công nghệ cơ sở dữ liệu </a:t>
            </a:r>
            <a:r>
              <a:rPr lang="en-US" altLang="en-US" sz="2800">
                <a:latin typeface="Times New Roman" panose="02020603050405020304" charset="0"/>
                <a:cs typeface="Times New Roman" panose="02020603050405020304" charset="0"/>
              </a:rPr>
              <a:t>đư</a:t>
            </a:r>
            <a:r>
              <a:rPr lang="en-US" altLang="en-US" sz="2800">
                <a:latin typeface="Times New Roman" panose="02020603050405020304" charset="0"/>
                <a:cs typeface="Times New Roman" panose="02020603050405020304" charset="0"/>
              </a:rPr>
              <a:t>ợc doanh nghiệp sử dụng phổ biến.</a:t>
            </a:r>
            <a:endParaRPr lang="en-US" altLang="en-US" sz="2800">
              <a:latin typeface="Times New Roman" panose="02020603050405020304" charset="0"/>
              <a:cs typeface="Times New Roman" panose="02020603050405020304" charset="0"/>
            </a:endParaRPr>
          </a:p>
          <a:p>
            <a:pPr algn="just"/>
            <a:endParaRPr lang="en-US" altLang="en-US" sz="2800">
              <a:latin typeface="Times New Roman" panose="02020603050405020304" charset="0"/>
              <a:cs typeface="Times New Roman" panose="02020603050405020304" charset="0"/>
            </a:endParaRPr>
          </a:p>
          <a:p>
            <a:pPr indent="457200" algn="just"/>
            <a:r>
              <a:rPr lang="en-US" altLang="en-US" sz="2800">
                <a:latin typeface="Times New Roman" panose="02020603050405020304" charset="0"/>
                <a:cs typeface="Times New Roman" panose="02020603050405020304" charset="0"/>
              </a:rPr>
              <a:t>Ngoài các kỹ n</a:t>
            </a:r>
            <a:r>
              <a:rPr lang="en-US" altLang="en-US" sz="2800">
                <a:latin typeface="Times New Roman" panose="02020603050405020304" charset="0"/>
                <a:cs typeface="Times New Roman" panose="02020603050405020304" charset="0"/>
              </a:rPr>
              <a:t>ă</a:t>
            </a:r>
            <a:r>
              <a:rPr lang="en-US" altLang="en-US" sz="2800">
                <a:latin typeface="Times New Roman" panose="02020603050405020304" charset="0"/>
                <a:cs typeface="Times New Roman" panose="02020603050405020304" charset="0"/>
              </a:rPr>
              <a:t>ng lập trình, sự xuất hiện của Docker, Kubernetes và AWS cho thấy các doanh nghiệp ngày càng quan tâm </a:t>
            </a:r>
            <a:r>
              <a:rPr lang="en-US" altLang="en-US" sz="2800">
                <a:latin typeface="Times New Roman" panose="02020603050405020304" charset="0"/>
                <a:cs typeface="Times New Roman" panose="02020603050405020304" charset="0"/>
              </a:rPr>
              <a:t>đ</a:t>
            </a:r>
            <a:r>
              <a:rPr lang="en-US" altLang="en-US" sz="2800">
                <a:latin typeface="Times New Roman" panose="02020603050405020304" charset="0"/>
                <a:cs typeface="Times New Roman" panose="02020603050405020304" charset="0"/>
              </a:rPr>
              <a:t>ến </a:t>
            </a:r>
            <a:r>
              <a:rPr lang="en-US" altLang="en-US" sz="2800">
                <a:latin typeface="Times New Roman" panose="02020603050405020304" charset="0"/>
                <a:cs typeface="Times New Roman" panose="02020603050405020304" charset="0"/>
              </a:rPr>
              <a:t>đ</a:t>
            </a:r>
            <a:r>
              <a:rPr lang="en-US" altLang="en-US" sz="2800">
                <a:latin typeface="Times New Roman" panose="02020603050405020304" charset="0"/>
                <a:cs typeface="Times New Roman" panose="02020603050405020304" charset="0"/>
              </a:rPr>
              <a:t>iện toán </a:t>
            </a:r>
            <a:r>
              <a:rPr lang="en-US" altLang="en-US" sz="2800">
                <a:latin typeface="Times New Roman" panose="02020603050405020304" charset="0"/>
                <a:cs typeface="Times New Roman" panose="02020603050405020304" charset="0"/>
              </a:rPr>
              <a:t>đ</a:t>
            </a:r>
            <a:r>
              <a:rPr lang="en-US" altLang="en-US" sz="2800">
                <a:latin typeface="Times New Roman" panose="02020603050405020304" charset="0"/>
                <a:cs typeface="Times New Roman" panose="02020603050405020304" charset="0"/>
              </a:rPr>
              <a:t>ám mây và DevOps nhằm nâng cao hiệu quả triển khai và vận hành hệ thống.</a:t>
            </a:r>
            <a:endParaRPr lang="en-US" altLang="en-US" sz="2800">
              <a:latin typeface="Times New Roman" panose="02020603050405020304" charset="0"/>
              <a:cs typeface="Times New Roman" panose="020206030504050203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B9BBDD"/>
        </a:solidFill>
        <a:effectLst/>
      </p:bgPr>
    </p:bg>
    <p:spTree>
      <p:nvGrpSpPr>
        <p:cNvPr id="1" name=""/>
        <p:cNvGrpSpPr/>
        <p:nvPr/>
      </p:nvGrpSpPr>
      <p:grpSpPr>
        <a:xfrm>
          <a:off x="0" y="0"/>
          <a:ext cx="0" cy="0"/>
          <a:chOff x="0" y="0"/>
          <a:chExt cx="0" cy="0"/>
        </a:xfrm>
      </p:grpSpPr>
      <p:pic>
        <p:nvPicPr>
          <p:cNvPr id="20" name="Picture 19"/>
          <p:cNvPicPr>
            <a:picLocks noChangeAspect="1"/>
          </p:cNvPicPr>
          <p:nvPr/>
        </p:nvPicPr>
        <p:blipFill>
          <a:blip r:embed="rId1"/>
          <a:stretch>
            <a:fillRect/>
          </a:stretch>
        </p:blipFill>
        <p:spPr>
          <a:xfrm>
            <a:off x="2057400" y="2171700"/>
            <a:ext cx="14500225" cy="7006590"/>
          </a:xfrm>
          <a:prstGeom prst="rect">
            <a:avLst/>
          </a:prstGeom>
        </p:spPr>
      </p:pic>
      <p:sp>
        <p:nvSpPr>
          <p:cNvPr id="21" name="Text Box 20"/>
          <p:cNvSpPr txBox="1"/>
          <p:nvPr/>
        </p:nvSpPr>
        <p:spPr>
          <a:xfrm>
            <a:off x="0" y="876300"/>
            <a:ext cx="18288000" cy="645160"/>
          </a:xfrm>
          <a:prstGeom prst="rect">
            <a:avLst/>
          </a:prstGeom>
          <a:noFill/>
        </p:spPr>
        <p:txBody>
          <a:bodyPr wrap="square" rtlCol="0">
            <a:spAutoFit/>
          </a:bodyPr>
          <a:p>
            <a:pPr algn="ctr"/>
            <a:r>
              <a:rPr lang="en-US" altLang="en-US" sz="3600">
                <a:latin typeface="Times New Roman" panose="02020603050405020304" charset="0"/>
                <a:cs typeface="Times New Roman" panose="02020603050405020304" charset="0"/>
              </a:rPr>
              <a:t>Biểu </a:t>
            </a:r>
            <a:r>
              <a:rPr lang="en-US" altLang="en-US" sz="3600">
                <a:latin typeface="Times New Roman" panose="02020603050405020304" charset="0"/>
                <a:cs typeface="Times New Roman" panose="02020603050405020304" charset="0"/>
              </a:rPr>
              <a:t>đ</a:t>
            </a:r>
            <a:r>
              <a:rPr lang="en-US" altLang="en-US" sz="3600">
                <a:latin typeface="Times New Roman" panose="02020603050405020304" charset="0"/>
                <a:cs typeface="Times New Roman" panose="02020603050405020304" charset="0"/>
              </a:rPr>
              <a:t>ồ thể hiện tần suất xuất hiện của các kỹ n</a:t>
            </a:r>
            <a:r>
              <a:rPr lang="en-US" altLang="en-US" sz="3600">
                <a:latin typeface="Times New Roman" panose="02020603050405020304" charset="0"/>
                <a:cs typeface="Times New Roman" panose="02020603050405020304" charset="0"/>
              </a:rPr>
              <a:t>ă</a:t>
            </a:r>
            <a:r>
              <a:rPr lang="en-US" altLang="en-US" sz="3600">
                <a:latin typeface="Times New Roman" panose="02020603050405020304" charset="0"/>
                <a:cs typeface="Times New Roman" panose="02020603050405020304" charset="0"/>
              </a:rPr>
              <a:t>ng CNTT trong tin tuyển dụng</a:t>
            </a:r>
            <a:endParaRPr lang="en-US" altLang="en-US" sz="3600">
              <a:latin typeface="Times New Roman" panose="02020603050405020304" charset="0"/>
              <a:cs typeface="Times New Roman" panose="020206030504050203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5ED"/>
        </a:solidFill>
        <a:effectLst/>
      </p:bgPr>
    </p:bg>
    <p:spTree>
      <p:nvGrpSpPr>
        <p:cNvPr id="1" name=""/>
        <p:cNvGrpSpPr/>
        <p:nvPr/>
      </p:nvGrpSpPr>
      <p:grpSpPr>
        <a:xfrm>
          <a:off x="0" y="0"/>
          <a:ext cx="0" cy="0"/>
          <a:chOff x="0" y="0"/>
          <a:chExt cx="0" cy="0"/>
        </a:xfrm>
      </p:grpSpPr>
      <p:sp>
        <p:nvSpPr>
          <p:cNvPr id="32" name="Text Box 31"/>
          <p:cNvSpPr txBox="1"/>
          <p:nvPr/>
        </p:nvSpPr>
        <p:spPr>
          <a:xfrm>
            <a:off x="914400" y="952500"/>
            <a:ext cx="11025505" cy="1198880"/>
          </a:xfrm>
          <a:prstGeom prst="rect">
            <a:avLst/>
          </a:prstGeom>
          <a:noFill/>
        </p:spPr>
        <p:txBody>
          <a:bodyPr wrap="square" rtlCol="0">
            <a:spAutoFit/>
          </a:bodyPr>
          <a:p>
            <a:r>
              <a:rPr lang="en-US" altLang="en-US" sz="3600" b="1">
                <a:latin typeface="Times New Roman" panose="02020603050405020304" charset="0"/>
                <a:cs typeface="Times New Roman" panose="02020603050405020304" charset="0"/>
              </a:rPr>
              <a:t>Câu 4. Những kỹ n</a:t>
            </a:r>
            <a:r>
              <a:rPr lang="en-US" altLang="en-US" sz="3600" b="1">
                <a:latin typeface="Times New Roman" panose="02020603050405020304" charset="0"/>
                <a:cs typeface="Times New Roman" panose="02020603050405020304" charset="0"/>
              </a:rPr>
              <a:t>ă</a:t>
            </a:r>
            <a:r>
              <a:rPr lang="en-US" altLang="en-US" sz="3600" b="1">
                <a:latin typeface="Times New Roman" panose="02020603050405020304" charset="0"/>
                <a:cs typeface="Times New Roman" panose="02020603050405020304" charset="0"/>
              </a:rPr>
              <a:t>ng nào th</a:t>
            </a:r>
            <a:r>
              <a:rPr lang="en-US" altLang="en-US" sz="3600" b="1">
                <a:latin typeface="Times New Roman" panose="02020603050405020304" charset="0"/>
                <a:cs typeface="Times New Roman" panose="02020603050405020304" charset="0"/>
              </a:rPr>
              <a:t>ư</a:t>
            </a:r>
            <a:r>
              <a:rPr lang="en-US" altLang="en-US" sz="3600" b="1">
                <a:latin typeface="Times New Roman" panose="02020603050405020304" charset="0"/>
                <a:cs typeface="Times New Roman" panose="02020603050405020304" charset="0"/>
              </a:rPr>
              <a:t>ờng xuất hiện cùng nhau?</a:t>
            </a:r>
            <a:endParaRPr lang="en-US" altLang="en-US" sz="3600" b="1">
              <a:latin typeface="Times New Roman" panose="02020603050405020304" charset="0"/>
              <a:cs typeface="Times New Roman" panose="02020603050405020304" charset="0"/>
            </a:endParaRPr>
          </a:p>
        </p:txBody>
      </p:sp>
      <p:pic>
        <p:nvPicPr>
          <p:cNvPr id="33" name="Picture 32"/>
          <p:cNvPicPr>
            <a:picLocks noChangeAspect="1"/>
          </p:cNvPicPr>
          <p:nvPr/>
        </p:nvPicPr>
        <p:blipFill>
          <a:blip r:embed="rId1"/>
          <a:stretch>
            <a:fillRect/>
          </a:stretch>
        </p:blipFill>
        <p:spPr>
          <a:xfrm>
            <a:off x="12573000" y="1257300"/>
            <a:ext cx="5210175" cy="8475980"/>
          </a:xfrm>
          <a:prstGeom prst="rect">
            <a:avLst/>
          </a:prstGeom>
        </p:spPr>
      </p:pic>
      <p:sp>
        <p:nvSpPr>
          <p:cNvPr id="34" name="Text Box 33"/>
          <p:cNvSpPr txBox="1"/>
          <p:nvPr/>
        </p:nvSpPr>
        <p:spPr>
          <a:xfrm>
            <a:off x="788670" y="2019300"/>
            <a:ext cx="11276330" cy="7200900"/>
          </a:xfrm>
          <a:prstGeom prst="rect">
            <a:avLst/>
          </a:prstGeom>
          <a:noFill/>
        </p:spPr>
        <p:txBody>
          <a:bodyPr wrap="square" rtlCol="0">
            <a:spAutoFit/>
          </a:bodyPr>
          <a:p>
            <a:pPr indent="457200" algn="just">
              <a:lnSpc>
                <a:spcPct val="150000"/>
              </a:lnSpc>
            </a:pPr>
            <a:r>
              <a:rPr lang="en-US" altLang="en-US" sz="2800">
                <a:latin typeface="Times New Roman" panose="02020603050405020304" charset="0"/>
                <a:cs typeface="Times New Roman" panose="02020603050405020304" charset="0"/>
              </a:rPr>
              <a:t>Kết quả cho thấy Java và Python là hai kỹ n</a:t>
            </a:r>
            <a:r>
              <a:rPr lang="en-US" altLang="en-US" sz="2800">
                <a:latin typeface="Times New Roman" panose="02020603050405020304" charset="0"/>
                <a:cs typeface="Times New Roman" panose="02020603050405020304" charset="0"/>
              </a:rPr>
              <a:t>ă</a:t>
            </a:r>
            <a:r>
              <a:rPr lang="en-US" altLang="en-US" sz="2800">
                <a:latin typeface="Times New Roman" panose="02020603050405020304" charset="0"/>
                <a:cs typeface="Times New Roman" panose="02020603050405020304" charset="0"/>
              </a:rPr>
              <a:t>ng </a:t>
            </a:r>
            <a:r>
              <a:rPr lang="en-US" altLang="en-US" sz="2800">
                <a:latin typeface="Times New Roman" panose="02020603050405020304" charset="0"/>
                <a:cs typeface="Times New Roman" panose="02020603050405020304" charset="0"/>
              </a:rPr>
              <a:t>đư</a:t>
            </a:r>
            <a:r>
              <a:rPr lang="en-US" altLang="en-US" sz="2800">
                <a:latin typeface="Times New Roman" panose="02020603050405020304" charset="0"/>
                <a:cs typeface="Times New Roman" panose="02020603050405020304" charset="0"/>
              </a:rPr>
              <a:t>ợc yêu cầu nhiều nhất (40 lần), phản ánh nhu cầu cao về lập trình và phát triển phần mềm. Các kỹ n</a:t>
            </a:r>
            <a:r>
              <a:rPr lang="en-US" altLang="en-US" sz="2800">
                <a:latin typeface="Times New Roman" panose="02020603050405020304" charset="0"/>
                <a:cs typeface="Times New Roman" panose="02020603050405020304" charset="0"/>
              </a:rPr>
              <a:t>ă</a:t>
            </a:r>
            <a:r>
              <a:rPr lang="en-US" altLang="en-US" sz="2800">
                <a:latin typeface="Times New Roman" panose="02020603050405020304" charset="0"/>
                <a:cs typeface="Times New Roman" panose="02020603050405020304" charset="0"/>
              </a:rPr>
              <a:t>ng nh</a:t>
            </a:r>
            <a:r>
              <a:rPr lang="en-US" altLang="en-US" sz="2800">
                <a:latin typeface="Times New Roman" panose="02020603050405020304" charset="0"/>
                <a:cs typeface="Times New Roman" panose="02020603050405020304" charset="0"/>
              </a:rPr>
              <a:t>ư </a:t>
            </a:r>
            <a:r>
              <a:rPr lang="en-US" altLang="en-US" sz="2800">
                <a:latin typeface="Times New Roman" panose="02020603050405020304" charset="0"/>
                <a:cs typeface="Times New Roman" panose="02020603050405020304" charset="0"/>
              </a:rPr>
              <a:t>MySQL, PHP, ReactJS, MongoDB và NodeJS c</a:t>
            </a:r>
            <a:r>
              <a:rPr lang="en-US" altLang="en-US" sz="2800">
                <a:latin typeface="Times New Roman" panose="02020603050405020304" charset="0"/>
                <a:cs typeface="Times New Roman" panose="02020603050405020304" charset="0"/>
              </a:rPr>
              <a:t>ũ</a:t>
            </a:r>
            <a:r>
              <a:rPr lang="en-US" altLang="en-US" sz="2800">
                <a:latin typeface="Times New Roman" panose="02020603050405020304" charset="0"/>
                <a:cs typeface="Times New Roman" panose="02020603050405020304" charset="0"/>
              </a:rPr>
              <a:t>ng xuất hiện th</a:t>
            </a:r>
            <a:r>
              <a:rPr lang="en-US" altLang="en-US" sz="2800">
                <a:latin typeface="Times New Roman" panose="02020603050405020304" charset="0"/>
                <a:cs typeface="Times New Roman" panose="02020603050405020304" charset="0"/>
              </a:rPr>
              <a:t>ư</a:t>
            </a:r>
            <a:r>
              <a:rPr lang="en-US" altLang="en-US" sz="2800">
                <a:latin typeface="Times New Roman" panose="02020603050405020304" charset="0"/>
                <a:cs typeface="Times New Roman" panose="02020603050405020304" charset="0"/>
              </a:rPr>
              <a:t>ờng xuyên, cho thấy l</a:t>
            </a:r>
            <a:r>
              <a:rPr lang="en-US" altLang="en-US" sz="2800">
                <a:latin typeface="Times New Roman" panose="02020603050405020304" charset="0"/>
                <a:cs typeface="Times New Roman" panose="02020603050405020304" charset="0"/>
              </a:rPr>
              <a:t>ĩ</a:t>
            </a:r>
            <a:r>
              <a:rPr lang="en-US" altLang="en-US" sz="2800">
                <a:latin typeface="Times New Roman" panose="02020603050405020304" charset="0"/>
                <a:cs typeface="Times New Roman" panose="02020603050405020304" charset="0"/>
              </a:rPr>
              <a:t>nh vực phát triển web và quản l</a:t>
            </a:r>
            <a:r>
              <a:rPr lang="en-US" altLang="en-US" sz="2800">
                <a:latin typeface="Times New Roman" panose="02020603050405020304" charset="0"/>
                <a:cs typeface="Times New Roman" panose="02020603050405020304" charset="0"/>
              </a:rPr>
              <a:t>ý </a:t>
            </a:r>
            <a:r>
              <a:rPr lang="en-US" altLang="en-US" sz="2800">
                <a:latin typeface="Times New Roman" panose="02020603050405020304" charset="0"/>
                <a:cs typeface="Times New Roman" panose="02020603050405020304" charset="0"/>
              </a:rPr>
              <a:t>dữ liệu </a:t>
            </a:r>
            <a:r>
              <a:rPr lang="en-US" altLang="en-US" sz="2800">
                <a:latin typeface="Times New Roman" panose="02020603050405020304" charset="0"/>
                <a:cs typeface="Times New Roman" panose="02020603050405020304" charset="0"/>
              </a:rPr>
              <a:t>đ</a:t>
            </a:r>
            <a:r>
              <a:rPr lang="en-US" altLang="en-US" sz="2800">
                <a:latin typeface="Times New Roman" panose="02020603050405020304" charset="0"/>
                <a:cs typeface="Times New Roman" panose="02020603050405020304" charset="0"/>
              </a:rPr>
              <a:t>ang </a:t>
            </a:r>
            <a:r>
              <a:rPr lang="en-US" altLang="en-US" sz="2800">
                <a:latin typeface="Times New Roman" panose="02020603050405020304" charset="0"/>
                <a:cs typeface="Times New Roman" panose="02020603050405020304" charset="0"/>
              </a:rPr>
              <a:t>đư</a:t>
            </a:r>
            <a:r>
              <a:rPr lang="en-US" altLang="en-US" sz="2800">
                <a:latin typeface="Times New Roman" panose="02020603050405020304" charset="0"/>
                <a:cs typeface="Times New Roman" panose="02020603050405020304" charset="0"/>
              </a:rPr>
              <a:t>ợc doanh nghiệp quan tâm.</a:t>
            </a:r>
            <a:endParaRPr lang="en-US" altLang="en-US" sz="2800">
              <a:latin typeface="Times New Roman" panose="02020603050405020304" charset="0"/>
              <a:cs typeface="Times New Roman" panose="02020603050405020304" charset="0"/>
            </a:endParaRPr>
          </a:p>
          <a:p>
            <a:pPr indent="457200" algn="just">
              <a:lnSpc>
                <a:spcPct val="150000"/>
              </a:lnSpc>
            </a:pPr>
            <a:r>
              <a:rPr lang="en-US" altLang="en-US" sz="2800">
                <a:latin typeface="Times New Roman" panose="02020603050405020304" charset="0"/>
                <a:cs typeface="Times New Roman" panose="02020603050405020304" charset="0"/>
              </a:rPr>
              <a:t>Bên cạnh </a:t>
            </a:r>
            <a:r>
              <a:rPr lang="en-US" altLang="en-US" sz="2800">
                <a:latin typeface="Times New Roman" panose="02020603050405020304" charset="0"/>
                <a:cs typeface="Times New Roman" panose="02020603050405020304" charset="0"/>
              </a:rPr>
              <a:t>đ</a:t>
            </a:r>
            <a:r>
              <a:rPr lang="en-US" altLang="en-US" sz="2800">
                <a:latin typeface="Times New Roman" panose="02020603050405020304" charset="0"/>
                <a:cs typeface="Times New Roman" panose="02020603050405020304" charset="0"/>
              </a:rPr>
              <a:t>ó, các công nghệ Docker, AWS và Kubernetes xuất hiện trong nhóm kỹ n</a:t>
            </a:r>
            <a:r>
              <a:rPr lang="en-US" altLang="en-US" sz="2800">
                <a:latin typeface="Times New Roman" panose="02020603050405020304" charset="0"/>
                <a:cs typeface="Times New Roman" panose="02020603050405020304" charset="0"/>
              </a:rPr>
              <a:t>ă</a:t>
            </a:r>
            <a:r>
              <a:rPr lang="en-US" altLang="en-US" sz="2800">
                <a:latin typeface="Times New Roman" panose="02020603050405020304" charset="0"/>
                <a:cs typeface="Times New Roman" panose="02020603050405020304" charset="0"/>
              </a:rPr>
              <a:t>ng phổ biến, thể hiện xu h</a:t>
            </a:r>
            <a:r>
              <a:rPr lang="en-US" altLang="en-US" sz="2800">
                <a:latin typeface="Times New Roman" panose="02020603050405020304" charset="0"/>
                <a:cs typeface="Times New Roman" panose="02020603050405020304" charset="0"/>
              </a:rPr>
              <a:t>ư</a:t>
            </a:r>
            <a:r>
              <a:rPr lang="en-US" altLang="en-US" sz="2800">
                <a:latin typeface="Times New Roman" panose="02020603050405020304" charset="0"/>
                <a:cs typeface="Times New Roman" panose="02020603050405020304" charset="0"/>
              </a:rPr>
              <a:t>ớng phát triển của Cloud Computing và DevOps trong các doanh nghiệp hiện nay. Ngoài ra, các kỹ n</a:t>
            </a:r>
            <a:r>
              <a:rPr lang="en-US" altLang="en-US" sz="2800">
                <a:latin typeface="Times New Roman" panose="02020603050405020304" charset="0"/>
                <a:cs typeface="Times New Roman" panose="02020603050405020304" charset="0"/>
              </a:rPr>
              <a:t>ă</a:t>
            </a:r>
            <a:r>
              <a:rPr lang="en-US" altLang="en-US" sz="2800">
                <a:latin typeface="Times New Roman" panose="02020603050405020304" charset="0"/>
                <a:cs typeface="Times New Roman" panose="02020603050405020304" charset="0"/>
              </a:rPr>
              <a:t>ng liên quan </a:t>
            </a:r>
            <a:r>
              <a:rPr lang="en-US" altLang="en-US" sz="2800">
                <a:latin typeface="Times New Roman" panose="02020603050405020304" charset="0"/>
                <a:cs typeface="Times New Roman" panose="02020603050405020304" charset="0"/>
              </a:rPr>
              <a:t>đ</a:t>
            </a:r>
            <a:r>
              <a:rPr lang="en-US" altLang="en-US" sz="2800">
                <a:latin typeface="Times New Roman" panose="02020603050405020304" charset="0"/>
                <a:cs typeface="Times New Roman" panose="02020603050405020304" charset="0"/>
              </a:rPr>
              <a:t>ến phát triển ứng dụng di </a:t>
            </a:r>
            <a:r>
              <a:rPr lang="en-US" altLang="en-US" sz="2800">
                <a:latin typeface="Times New Roman" panose="02020603050405020304" charset="0"/>
                <a:cs typeface="Times New Roman" panose="02020603050405020304" charset="0"/>
              </a:rPr>
              <a:t>đ</a:t>
            </a:r>
            <a:r>
              <a:rPr lang="en-US" altLang="en-US" sz="2800">
                <a:latin typeface="Times New Roman" panose="02020603050405020304" charset="0"/>
                <a:cs typeface="Times New Roman" panose="02020603050405020304" charset="0"/>
              </a:rPr>
              <a:t>ộng nh</a:t>
            </a:r>
            <a:r>
              <a:rPr lang="en-US" altLang="en-US" sz="2800">
                <a:latin typeface="Times New Roman" panose="02020603050405020304" charset="0"/>
                <a:cs typeface="Times New Roman" panose="02020603050405020304" charset="0"/>
              </a:rPr>
              <a:t>ư </a:t>
            </a:r>
            <a:r>
              <a:rPr lang="en-US" altLang="en-US" sz="2800">
                <a:latin typeface="Times New Roman" panose="02020603050405020304" charset="0"/>
                <a:cs typeface="Times New Roman" panose="02020603050405020304" charset="0"/>
              </a:rPr>
              <a:t>Android, React Native và Swift c</a:t>
            </a:r>
            <a:r>
              <a:rPr lang="en-US" altLang="en-US" sz="2800">
                <a:latin typeface="Times New Roman" panose="02020603050405020304" charset="0"/>
                <a:cs typeface="Times New Roman" panose="02020603050405020304" charset="0"/>
              </a:rPr>
              <a:t>ũ</a:t>
            </a:r>
            <a:r>
              <a:rPr lang="en-US" altLang="en-US" sz="2800">
                <a:latin typeface="Times New Roman" panose="02020603050405020304" charset="0"/>
                <a:cs typeface="Times New Roman" panose="02020603050405020304" charset="0"/>
              </a:rPr>
              <a:t>ng có mặt trong danh sách, cho thấy nhu cầu tuyển dụng nhân lực cho nền tảng di </a:t>
            </a:r>
            <a:r>
              <a:rPr lang="en-US" altLang="en-US" sz="2800">
                <a:latin typeface="Times New Roman" panose="02020603050405020304" charset="0"/>
                <a:cs typeface="Times New Roman" panose="02020603050405020304" charset="0"/>
              </a:rPr>
              <a:t>đ</a:t>
            </a:r>
            <a:r>
              <a:rPr lang="en-US" altLang="en-US" sz="2800">
                <a:latin typeface="Times New Roman" panose="02020603050405020304" charset="0"/>
                <a:cs typeface="Times New Roman" panose="02020603050405020304" charset="0"/>
              </a:rPr>
              <a:t>ộng vẫn khá ổn </a:t>
            </a:r>
            <a:r>
              <a:rPr lang="en-US" altLang="en-US" sz="2800">
                <a:latin typeface="Times New Roman" panose="02020603050405020304" charset="0"/>
                <a:cs typeface="Times New Roman" panose="02020603050405020304" charset="0"/>
              </a:rPr>
              <a:t>đ</a:t>
            </a:r>
            <a:r>
              <a:rPr lang="en-US" altLang="en-US" sz="2800">
                <a:latin typeface="Times New Roman" panose="02020603050405020304" charset="0"/>
                <a:cs typeface="Times New Roman" panose="02020603050405020304" charset="0"/>
              </a:rPr>
              <a:t>ịnh.</a:t>
            </a:r>
            <a:endParaRPr lang="en-US" altLang="en-US" sz="2800">
              <a:latin typeface="Times New Roman" panose="02020603050405020304" charset="0"/>
              <a:cs typeface="Times New Roman" panose="020206030504050203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6DFCC"/>
        </a:solidFill>
        <a:effectLst/>
      </p:bgPr>
    </p:bg>
    <p:spTree>
      <p:nvGrpSpPr>
        <p:cNvPr id="1" name=""/>
        <p:cNvGrpSpPr/>
        <p:nvPr/>
      </p:nvGrpSpPr>
      <p:grpSpPr>
        <a:xfrm>
          <a:off x="0" y="0"/>
          <a:ext cx="0" cy="0"/>
          <a:chOff x="0" y="0"/>
          <a:chExt cx="0" cy="0"/>
        </a:xfrm>
      </p:grpSpPr>
      <p:pic>
        <p:nvPicPr>
          <p:cNvPr id="9" name="Picture 8"/>
          <p:cNvPicPr>
            <a:picLocks noChangeAspect="1"/>
          </p:cNvPicPr>
          <p:nvPr/>
        </p:nvPicPr>
        <p:blipFill>
          <a:blip r:embed="rId1"/>
          <a:stretch>
            <a:fillRect/>
          </a:stretch>
        </p:blipFill>
        <p:spPr>
          <a:xfrm>
            <a:off x="1676400" y="2058670"/>
            <a:ext cx="15159355" cy="7410450"/>
          </a:xfrm>
          <a:prstGeom prst="rect">
            <a:avLst/>
          </a:prstGeom>
        </p:spPr>
      </p:pic>
      <p:sp>
        <p:nvSpPr>
          <p:cNvPr id="11" name="Text Box 10"/>
          <p:cNvSpPr txBox="1"/>
          <p:nvPr/>
        </p:nvSpPr>
        <p:spPr>
          <a:xfrm>
            <a:off x="635" y="882015"/>
            <a:ext cx="18309590" cy="645160"/>
          </a:xfrm>
          <a:prstGeom prst="rect">
            <a:avLst/>
          </a:prstGeom>
          <a:noFill/>
        </p:spPr>
        <p:txBody>
          <a:bodyPr wrap="square" rtlCol="0">
            <a:spAutoFit/>
          </a:bodyPr>
          <a:p>
            <a:pPr algn="ctr"/>
            <a:r>
              <a:rPr lang="en-US" altLang="en-US" sz="3600">
                <a:latin typeface="Times New Roman" panose="02020603050405020304" charset="0"/>
                <a:cs typeface="Times New Roman" panose="02020603050405020304" charset="0"/>
              </a:rPr>
              <a:t>Biểu </a:t>
            </a:r>
            <a:r>
              <a:rPr lang="en-US" altLang="en-US" sz="3600">
                <a:latin typeface="Times New Roman" panose="02020603050405020304" charset="0"/>
                <a:cs typeface="Times New Roman" panose="02020603050405020304" charset="0"/>
              </a:rPr>
              <a:t>đ</a:t>
            </a:r>
            <a:r>
              <a:rPr lang="en-US" altLang="en-US" sz="3600">
                <a:latin typeface="Times New Roman" panose="02020603050405020304" charset="0"/>
                <a:cs typeface="Times New Roman" panose="02020603050405020304" charset="0"/>
              </a:rPr>
              <a:t>ồ Top kỹ n</a:t>
            </a:r>
            <a:r>
              <a:rPr lang="en-US" altLang="en-US" sz="3600">
                <a:latin typeface="Times New Roman" panose="02020603050405020304" charset="0"/>
                <a:cs typeface="Times New Roman" panose="02020603050405020304" charset="0"/>
              </a:rPr>
              <a:t>ă</a:t>
            </a:r>
            <a:r>
              <a:rPr lang="en-US" altLang="en-US" sz="3600">
                <a:latin typeface="Times New Roman" panose="02020603050405020304" charset="0"/>
                <a:cs typeface="Times New Roman" panose="02020603050405020304" charset="0"/>
              </a:rPr>
              <a:t>ng xuất hiện nhiều nhất trong các tin tuyển dụng CNTT</a:t>
            </a:r>
            <a:endParaRPr lang="en-US" altLang="en-US" sz="3600">
              <a:latin typeface="Times New Roman" panose="02020603050405020304" charset="0"/>
              <a:cs typeface="Times New Roman" panose="020206030504050203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5ED"/>
        </a:solidFill>
        <a:effectLst/>
      </p:bgPr>
    </p:bg>
    <p:spTree>
      <p:nvGrpSpPr>
        <p:cNvPr id="1" name=""/>
        <p:cNvGrpSpPr/>
        <p:nvPr/>
      </p:nvGrpSpPr>
      <p:grpSpPr>
        <a:xfrm>
          <a:off x="0" y="0"/>
          <a:ext cx="0" cy="0"/>
          <a:chOff x="0" y="0"/>
          <a:chExt cx="0" cy="0"/>
        </a:xfrm>
      </p:grpSpPr>
      <p:sp>
        <p:nvSpPr>
          <p:cNvPr id="7" name="Text Box 6"/>
          <p:cNvSpPr txBox="1"/>
          <p:nvPr/>
        </p:nvSpPr>
        <p:spPr>
          <a:xfrm>
            <a:off x="609600" y="1104900"/>
            <a:ext cx="15840710" cy="706755"/>
          </a:xfrm>
          <a:prstGeom prst="rect">
            <a:avLst/>
          </a:prstGeom>
          <a:noFill/>
        </p:spPr>
        <p:txBody>
          <a:bodyPr wrap="square" rtlCol="0">
            <a:spAutoFit/>
          </a:bodyPr>
          <a:p>
            <a:r>
              <a:rPr lang="en-US" altLang="en-US" sz="4000" b="1">
                <a:latin typeface="Times New Roman" panose="02020603050405020304" charset="0"/>
                <a:cs typeface="Times New Roman" panose="02020603050405020304" charset="0"/>
              </a:rPr>
              <a:t>Câu 5: Mối quan hệ giữa số l</a:t>
            </a:r>
            <a:r>
              <a:rPr lang="en-US" altLang="en-US" sz="4000" b="1">
                <a:latin typeface="Times New Roman" panose="02020603050405020304" charset="0"/>
                <a:cs typeface="Times New Roman" panose="02020603050405020304" charset="0"/>
              </a:rPr>
              <a:t>ư</a:t>
            </a:r>
            <a:r>
              <a:rPr lang="en-US" altLang="en-US" sz="4000" b="1">
                <a:latin typeface="Times New Roman" panose="02020603050405020304" charset="0"/>
                <a:cs typeface="Times New Roman" panose="02020603050405020304" charset="0"/>
              </a:rPr>
              <a:t>ợng kỹ n</a:t>
            </a:r>
            <a:r>
              <a:rPr lang="en-US" altLang="en-US" sz="4000" b="1">
                <a:latin typeface="Times New Roman" panose="02020603050405020304" charset="0"/>
                <a:cs typeface="Times New Roman" panose="02020603050405020304" charset="0"/>
              </a:rPr>
              <a:t>ă</a:t>
            </a:r>
            <a:r>
              <a:rPr lang="en-US" altLang="en-US" sz="4000" b="1">
                <a:latin typeface="Times New Roman" panose="02020603050405020304" charset="0"/>
                <a:cs typeface="Times New Roman" panose="02020603050405020304" charset="0"/>
              </a:rPr>
              <a:t>ng yêu cầu và </a:t>
            </a:r>
            <a:r>
              <a:rPr lang="en-US" altLang="en-US" sz="4000" b="1">
                <a:latin typeface="Times New Roman" panose="02020603050405020304" charset="0"/>
                <a:cs typeface="Times New Roman" panose="02020603050405020304" charset="0"/>
              </a:rPr>
              <a:t>đ</a:t>
            </a:r>
            <a:r>
              <a:rPr lang="en-US" altLang="en-US" sz="4000" b="1">
                <a:latin typeface="Times New Roman" panose="02020603050405020304" charset="0"/>
                <a:cs typeface="Times New Roman" panose="02020603050405020304" charset="0"/>
              </a:rPr>
              <a:t>ánh giá công ty</a:t>
            </a:r>
            <a:endParaRPr lang="en-US" altLang="en-US" sz="4000" b="1">
              <a:latin typeface="Times New Roman" panose="02020603050405020304" charset="0"/>
              <a:cs typeface="Times New Roman" panose="02020603050405020304" charset="0"/>
            </a:endParaRPr>
          </a:p>
        </p:txBody>
      </p:sp>
      <p:pic>
        <p:nvPicPr>
          <p:cNvPr id="8" name="Picture 7"/>
          <p:cNvPicPr>
            <a:picLocks noChangeAspect="1"/>
          </p:cNvPicPr>
          <p:nvPr/>
        </p:nvPicPr>
        <p:blipFill>
          <a:blip r:embed="rId1"/>
          <a:stretch>
            <a:fillRect/>
          </a:stretch>
        </p:blipFill>
        <p:spPr>
          <a:xfrm>
            <a:off x="11811000" y="2857500"/>
            <a:ext cx="5779770" cy="5088255"/>
          </a:xfrm>
          <a:prstGeom prst="rect">
            <a:avLst/>
          </a:prstGeom>
        </p:spPr>
      </p:pic>
      <p:sp>
        <p:nvSpPr>
          <p:cNvPr id="9" name="Text Box 8"/>
          <p:cNvSpPr txBox="1"/>
          <p:nvPr/>
        </p:nvSpPr>
        <p:spPr>
          <a:xfrm>
            <a:off x="838200" y="2476500"/>
            <a:ext cx="10073005" cy="5631180"/>
          </a:xfrm>
          <a:prstGeom prst="rect">
            <a:avLst/>
          </a:prstGeom>
          <a:noFill/>
        </p:spPr>
        <p:txBody>
          <a:bodyPr wrap="square" rtlCol="0">
            <a:spAutoFit/>
          </a:bodyPr>
          <a:p>
            <a:pPr indent="457200" algn="just"/>
            <a:r>
              <a:rPr lang="en-US" altLang="en-US" sz="3600">
                <a:latin typeface="Times New Roman" panose="02020603050405020304" charset="0"/>
                <a:cs typeface="Times New Roman" panose="02020603050405020304" charset="0"/>
              </a:rPr>
              <a:t>Kết quả cho thấy có 2041 mẫu dữ liệu </a:t>
            </a:r>
            <a:r>
              <a:rPr lang="en-US" altLang="en-US" sz="3600">
                <a:latin typeface="Times New Roman" panose="02020603050405020304" charset="0"/>
                <a:cs typeface="Times New Roman" panose="02020603050405020304" charset="0"/>
              </a:rPr>
              <a:t>đư</a:t>
            </a:r>
            <a:r>
              <a:rPr lang="en-US" altLang="en-US" sz="3600">
                <a:latin typeface="Times New Roman" panose="02020603050405020304" charset="0"/>
                <a:cs typeface="Times New Roman" panose="02020603050405020304" charset="0"/>
              </a:rPr>
              <a:t>ợc sử dụng </a:t>
            </a:r>
            <a:r>
              <a:rPr lang="en-US" altLang="en-US" sz="3600">
                <a:latin typeface="Times New Roman" panose="02020603050405020304" charset="0"/>
                <a:cs typeface="Times New Roman" panose="02020603050405020304" charset="0"/>
              </a:rPr>
              <a:t>đ</a:t>
            </a:r>
            <a:r>
              <a:rPr lang="en-US" altLang="en-US" sz="3600">
                <a:latin typeface="Times New Roman" panose="02020603050405020304" charset="0"/>
                <a:cs typeface="Times New Roman" panose="02020603050405020304" charset="0"/>
              </a:rPr>
              <a:t>ể phân tích mối quan hệ giữa số l</a:t>
            </a:r>
            <a:r>
              <a:rPr lang="en-US" altLang="en-US" sz="3600">
                <a:latin typeface="Times New Roman" panose="02020603050405020304" charset="0"/>
                <a:cs typeface="Times New Roman" panose="02020603050405020304" charset="0"/>
              </a:rPr>
              <a:t>ư</a:t>
            </a:r>
            <a:r>
              <a:rPr lang="en-US" altLang="en-US" sz="3600">
                <a:latin typeface="Times New Roman" panose="02020603050405020304" charset="0"/>
                <a:cs typeface="Times New Roman" panose="02020603050405020304" charset="0"/>
              </a:rPr>
              <a:t>ợng kỹ n</a:t>
            </a:r>
            <a:r>
              <a:rPr lang="en-US" altLang="en-US" sz="3600">
                <a:latin typeface="Times New Roman" panose="02020603050405020304" charset="0"/>
                <a:cs typeface="Times New Roman" panose="02020603050405020304" charset="0"/>
              </a:rPr>
              <a:t>ă</a:t>
            </a:r>
            <a:r>
              <a:rPr lang="en-US" altLang="en-US" sz="3600">
                <a:latin typeface="Times New Roman" panose="02020603050405020304" charset="0"/>
                <a:cs typeface="Times New Roman" panose="02020603050405020304" charset="0"/>
              </a:rPr>
              <a:t>ng yêu cầu và </a:t>
            </a:r>
            <a:r>
              <a:rPr lang="en-US" altLang="en-US" sz="3600">
                <a:latin typeface="Times New Roman" panose="02020603050405020304" charset="0"/>
                <a:cs typeface="Times New Roman" panose="02020603050405020304" charset="0"/>
              </a:rPr>
              <a:t>đ</a:t>
            </a:r>
            <a:r>
              <a:rPr lang="en-US" altLang="en-US" sz="3600">
                <a:latin typeface="Times New Roman" panose="02020603050405020304" charset="0"/>
                <a:cs typeface="Times New Roman" panose="02020603050405020304" charset="0"/>
              </a:rPr>
              <a:t>ánh giá công ty. Hệ số t</a:t>
            </a:r>
            <a:r>
              <a:rPr lang="en-US" altLang="en-US" sz="3600">
                <a:latin typeface="Times New Roman" panose="02020603050405020304" charset="0"/>
                <a:cs typeface="Times New Roman" panose="02020603050405020304" charset="0"/>
              </a:rPr>
              <a:t>ư</a:t>
            </a:r>
            <a:r>
              <a:rPr lang="en-US" altLang="en-US" sz="3600">
                <a:latin typeface="Times New Roman" panose="02020603050405020304" charset="0"/>
                <a:cs typeface="Times New Roman" panose="02020603050405020304" charset="0"/>
              </a:rPr>
              <a:t>ơng quan Pearson = 0.082, là một giá trị rất nhỏ và gần bằng 0, cho thấy mối quan hệ giữa hai yếu tố này là rất yếu.</a:t>
            </a:r>
            <a:endParaRPr lang="en-US" altLang="en-US" sz="3600">
              <a:latin typeface="Times New Roman" panose="02020603050405020304" charset="0"/>
              <a:cs typeface="Times New Roman" panose="02020603050405020304" charset="0"/>
            </a:endParaRPr>
          </a:p>
          <a:p>
            <a:pPr algn="just"/>
            <a:endParaRPr lang="en-US" altLang="en-US" sz="3600">
              <a:latin typeface="Times New Roman" panose="02020603050405020304" charset="0"/>
              <a:cs typeface="Times New Roman" panose="02020603050405020304" charset="0"/>
            </a:endParaRPr>
          </a:p>
          <a:p>
            <a:pPr indent="457200" algn="just"/>
            <a:r>
              <a:rPr lang="en-US" altLang="en-US" sz="3600">
                <a:latin typeface="Times New Roman" panose="02020603050405020304" charset="0"/>
                <a:cs typeface="Times New Roman" panose="02020603050405020304" charset="0"/>
              </a:rPr>
              <a:t>Đ</a:t>
            </a:r>
            <a:r>
              <a:rPr lang="en-US" altLang="en-US" sz="3600">
                <a:latin typeface="Times New Roman" panose="02020603050405020304" charset="0"/>
                <a:cs typeface="Times New Roman" panose="02020603050405020304" charset="0"/>
              </a:rPr>
              <a:t>iểm </a:t>
            </a:r>
            <a:r>
              <a:rPr lang="en-US" altLang="en-US" sz="3600">
                <a:latin typeface="Times New Roman" panose="02020603050405020304" charset="0"/>
                <a:cs typeface="Times New Roman" panose="02020603050405020304" charset="0"/>
              </a:rPr>
              <a:t>đ</a:t>
            </a:r>
            <a:r>
              <a:rPr lang="en-US" altLang="en-US" sz="3600">
                <a:latin typeface="Times New Roman" panose="02020603050405020304" charset="0"/>
                <a:cs typeface="Times New Roman" panose="02020603050405020304" charset="0"/>
              </a:rPr>
              <a:t>ánh giá trung bình của các nhóm kỹ n</a:t>
            </a:r>
            <a:r>
              <a:rPr lang="en-US" altLang="en-US" sz="3600">
                <a:latin typeface="Times New Roman" panose="02020603050405020304" charset="0"/>
                <a:cs typeface="Times New Roman" panose="02020603050405020304" charset="0"/>
              </a:rPr>
              <a:t>ă</a:t>
            </a:r>
            <a:r>
              <a:rPr lang="en-US" altLang="en-US" sz="3600">
                <a:latin typeface="Times New Roman" panose="02020603050405020304" charset="0"/>
                <a:cs typeface="Times New Roman" panose="02020603050405020304" charset="0"/>
              </a:rPr>
              <a:t>ng có xu h</a:t>
            </a:r>
            <a:r>
              <a:rPr lang="en-US" altLang="en-US" sz="3600">
                <a:latin typeface="Times New Roman" panose="02020603050405020304" charset="0"/>
                <a:cs typeface="Times New Roman" panose="02020603050405020304" charset="0"/>
              </a:rPr>
              <a:t>ư</a:t>
            </a:r>
            <a:r>
              <a:rPr lang="en-US" altLang="en-US" sz="3600">
                <a:latin typeface="Times New Roman" panose="02020603050405020304" charset="0"/>
                <a:cs typeface="Times New Roman" panose="02020603050405020304" charset="0"/>
              </a:rPr>
              <a:t>ớng t</a:t>
            </a:r>
            <a:r>
              <a:rPr lang="en-US" altLang="en-US" sz="3600">
                <a:latin typeface="Times New Roman" panose="02020603050405020304" charset="0"/>
                <a:cs typeface="Times New Roman" panose="02020603050405020304" charset="0"/>
              </a:rPr>
              <a:t>ă</a:t>
            </a:r>
            <a:r>
              <a:rPr lang="en-US" altLang="en-US" sz="3600">
                <a:latin typeface="Times New Roman" panose="02020603050405020304" charset="0"/>
                <a:cs typeface="Times New Roman" panose="02020603050405020304" charset="0"/>
              </a:rPr>
              <a:t>ng nhẹ từ 3.98 ở nhóm ít kỹ n</a:t>
            </a:r>
            <a:r>
              <a:rPr lang="en-US" altLang="en-US" sz="3600">
                <a:latin typeface="Times New Roman" panose="02020603050405020304" charset="0"/>
                <a:cs typeface="Times New Roman" panose="02020603050405020304" charset="0"/>
              </a:rPr>
              <a:t>ă</a:t>
            </a:r>
            <a:r>
              <a:rPr lang="en-US" altLang="en-US" sz="3600">
                <a:latin typeface="Times New Roman" panose="02020603050405020304" charset="0"/>
                <a:cs typeface="Times New Roman" panose="02020603050405020304" charset="0"/>
              </a:rPr>
              <a:t>ng lên 4.08 ở nhóm rất nhiều kỹ n</a:t>
            </a:r>
            <a:r>
              <a:rPr lang="en-US" altLang="en-US" sz="3600">
                <a:latin typeface="Times New Roman" panose="02020603050405020304" charset="0"/>
                <a:cs typeface="Times New Roman" panose="02020603050405020304" charset="0"/>
              </a:rPr>
              <a:t>ă</a:t>
            </a:r>
            <a:r>
              <a:rPr lang="en-US" altLang="en-US" sz="3600">
                <a:latin typeface="Times New Roman" panose="02020603050405020304" charset="0"/>
                <a:cs typeface="Times New Roman" panose="02020603050405020304" charset="0"/>
              </a:rPr>
              <a:t>ng. Tuy nhiên mức chênh lệch chỉ khoảng 0.1 </a:t>
            </a:r>
            <a:r>
              <a:rPr lang="en-US" altLang="en-US" sz="3600">
                <a:latin typeface="Times New Roman" panose="02020603050405020304" charset="0"/>
                <a:cs typeface="Times New Roman" panose="02020603050405020304" charset="0"/>
              </a:rPr>
              <a:t>đ</a:t>
            </a:r>
            <a:r>
              <a:rPr lang="en-US" altLang="en-US" sz="3600">
                <a:latin typeface="Times New Roman" panose="02020603050405020304" charset="0"/>
                <a:cs typeface="Times New Roman" panose="02020603050405020304" charset="0"/>
              </a:rPr>
              <a:t>iểm, không </a:t>
            </a:r>
            <a:r>
              <a:rPr lang="en-US" altLang="en-US" sz="3600">
                <a:latin typeface="Times New Roman" panose="02020603050405020304" charset="0"/>
                <a:cs typeface="Times New Roman" panose="02020603050405020304" charset="0"/>
              </a:rPr>
              <a:t>đ</a:t>
            </a:r>
            <a:r>
              <a:rPr lang="en-US" altLang="en-US" sz="3600">
                <a:latin typeface="Times New Roman" panose="02020603050405020304" charset="0"/>
                <a:cs typeface="Times New Roman" panose="02020603050405020304" charset="0"/>
              </a:rPr>
              <a:t>áng kể.</a:t>
            </a:r>
            <a:endParaRPr lang="en-US" altLang="en-US" sz="3600">
              <a:latin typeface="Times New Roman" panose="02020603050405020304" charset="0"/>
              <a:cs typeface="Times New Roman" panose="020206030504050203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B9BBDD"/>
        </a:solidFill>
        <a:effectLst/>
      </p:bgPr>
    </p:bg>
    <p:spTree>
      <p:nvGrpSpPr>
        <p:cNvPr id="1" name=""/>
        <p:cNvGrpSpPr/>
        <p:nvPr/>
      </p:nvGrpSpPr>
      <p:grpSpPr>
        <a:xfrm>
          <a:off x="0" y="0"/>
          <a:ext cx="0" cy="0"/>
          <a:chOff x="0" y="0"/>
          <a:chExt cx="0" cy="0"/>
        </a:xfrm>
      </p:grpSpPr>
      <p:grpSp>
        <p:nvGrpSpPr>
          <p:cNvPr id="2" name="Group 2"/>
          <p:cNvGrpSpPr/>
          <p:nvPr/>
        </p:nvGrpSpPr>
        <p:grpSpPr>
          <a:xfrm rot="0">
            <a:off x="690005" y="714510"/>
            <a:ext cx="16927040" cy="9097328"/>
            <a:chOff x="0" y="0"/>
            <a:chExt cx="126402652" cy="67934286"/>
          </a:xfrm>
        </p:grpSpPr>
        <p:sp>
          <p:nvSpPr>
            <p:cNvPr id="3" name="Freeform 3"/>
            <p:cNvSpPr/>
            <p:nvPr/>
          </p:nvSpPr>
          <p:spPr>
            <a:xfrm>
              <a:off x="72390" y="72390"/>
              <a:ext cx="126257871" cy="67789508"/>
            </a:xfrm>
            <a:custGeom>
              <a:avLst/>
              <a:gdLst/>
              <a:ahLst/>
              <a:cxnLst/>
              <a:rect l="l" t="t" r="r" b="b"/>
              <a:pathLst>
                <a:path w="126257871" h="67789508">
                  <a:moveTo>
                    <a:pt x="0" y="0"/>
                  </a:moveTo>
                  <a:lnTo>
                    <a:pt x="126257871" y="0"/>
                  </a:lnTo>
                  <a:lnTo>
                    <a:pt x="126257871" y="67789508"/>
                  </a:lnTo>
                  <a:lnTo>
                    <a:pt x="0" y="67789508"/>
                  </a:lnTo>
                  <a:lnTo>
                    <a:pt x="0" y="0"/>
                  </a:lnTo>
                  <a:close/>
                </a:path>
              </a:pathLst>
            </a:custGeom>
            <a:solidFill>
              <a:srgbClr val="FFF5ED"/>
            </a:solidFill>
          </p:spPr>
        </p:sp>
        <p:sp>
          <p:nvSpPr>
            <p:cNvPr id="4" name="Freeform 4"/>
            <p:cNvSpPr/>
            <p:nvPr/>
          </p:nvSpPr>
          <p:spPr>
            <a:xfrm>
              <a:off x="0" y="0"/>
              <a:ext cx="126402654" cy="67934284"/>
            </a:xfrm>
            <a:custGeom>
              <a:avLst/>
              <a:gdLst/>
              <a:ahLst/>
              <a:cxnLst/>
              <a:rect l="l" t="t" r="r" b="b"/>
              <a:pathLst>
                <a:path w="126402654" h="67934284">
                  <a:moveTo>
                    <a:pt x="126257869" y="67789506"/>
                  </a:moveTo>
                  <a:lnTo>
                    <a:pt x="126402654" y="67789506"/>
                  </a:lnTo>
                  <a:lnTo>
                    <a:pt x="126402654" y="67934284"/>
                  </a:lnTo>
                  <a:lnTo>
                    <a:pt x="126257869" y="67934284"/>
                  </a:lnTo>
                  <a:lnTo>
                    <a:pt x="126257869" y="67789506"/>
                  </a:lnTo>
                  <a:close/>
                  <a:moveTo>
                    <a:pt x="0" y="144780"/>
                  </a:moveTo>
                  <a:lnTo>
                    <a:pt x="144780" y="144780"/>
                  </a:lnTo>
                  <a:lnTo>
                    <a:pt x="144780" y="67789506"/>
                  </a:lnTo>
                  <a:lnTo>
                    <a:pt x="0" y="67789506"/>
                  </a:lnTo>
                  <a:lnTo>
                    <a:pt x="0" y="144780"/>
                  </a:lnTo>
                  <a:close/>
                  <a:moveTo>
                    <a:pt x="0" y="67789506"/>
                  </a:moveTo>
                  <a:lnTo>
                    <a:pt x="144780" y="67789506"/>
                  </a:lnTo>
                  <a:lnTo>
                    <a:pt x="144780" y="67934284"/>
                  </a:lnTo>
                  <a:lnTo>
                    <a:pt x="0" y="67934284"/>
                  </a:lnTo>
                  <a:lnTo>
                    <a:pt x="0" y="67789506"/>
                  </a:lnTo>
                  <a:close/>
                  <a:moveTo>
                    <a:pt x="126257869" y="144780"/>
                  </a:moveTo>
                  <a:lnTo>
                    <a:pt x="126402654" y="144780"/>
                  </a:lnTo>
                  <a:lnTo>
                    <a:pt x="126402654" y="67789506"/>
                  </a:lnTo>
                  <a:lnTo>
                    <a:pt x="126257869" y="67789506"/>
                  </a:lnTo>
                  <a:lnTo>
                    <a:pt x="126257869" y="144780"/>
                  </a:lnTo>
                  <a:close/>
                  <a:moveTo>
                    <a:pt x="144780" y="67789506"/>
                  </a:moveTo>
                  <a:lnTo>
                    <a:pt x="126257869" y="67789506"/>
                  </a:lnTo>
                  <a:lnTo>
                    <a:pt x="126257869" y="67934284"/>
                  </a:lnTo>
                  <a:lnTo>
                    <a:pt x="144780" y="67934284"/>
                  </a:lnTo>
                  <a:lnTo>
                    <a:pt x="144780" y="67789506"/>
                  </a:lnTo>
                  <a:close/>
                  <a:moveTo>
                    <a:pt x="126257869" y="0"/>
                  </a:moveTo>
                  <a:lnTo>
                    <a:pt x="126402654" y="0"/>
                  </a:lnTo>
                  <a:lnTo>
                    <a:pt x="126402654" y="144780"/>
                  </a:lnTo>
                  <a:lnTo>
                    <a:pt x="126257869" y="144780"/>
                  </a:lnTo>
                  <a:lnTo>
                    <a:pt x="126257869" y="0"/>
                  </a:lnTo>
                  <a:close/>
                  <a:moveTo>
                    <a:pt x="0" y="0"/>
                  </a:moveTo>
                  <a:lnTo>
                    <a:pt x="144780" y="0"/>
                  </a:lnTo>
                  <a:lnTo>
                    <a:pt x="144780" y="144780"/>
                  </a:lnTo>
                  <a:lnTo>
                    <a:pt x="0" y="144780"/>
                  </a:lnTo>
                  <a:lnTo>
                    <a:pt x="0" y="0"/>
                  </a:lnTo>
                  <a:close/>
                  <a:moveTo>
                    <a:pt x="144780" y="0"/>
                  </a:moveTo>
                  <a:lnTo>
                    <a:pt x="126257869" y="0"/>
                  </a:lnTo>
                  <a:lnTo>
                    <a:pt x="126257869" y="144780"/>
                  </a:lnTo>
                  <a:lnTo>
                    <a:pt x="144780" y="144780"/>
                  </a:lnTo>
                  <a:lnTo>
                    <a:pt x="144780" y="0"/>
                  </a:lnTo>
                  <a:close/>
                </a:path>
              </a:pathLst>
            </a:custGeom>
            <a:solidFill>
              <a:srgbClr val="000000"/>
            </a:solidFill>
          </p:spPr>
        </p:sp>
      </p:grpSp>
      <p:pic>
        <p:nvPicPr>
          <p:cNvPr id="16" name="Picture 15"/>
          <p:cNvPicPr>
            <a:picLocks noChangeAspect="1"/>
          </p:cNvPicPr>
          <p:nvPr/>
        </p:nvPicPr>
        <p:blipFill>
          <a:blip r:embed="rId1"/>
          <a:stretch>
            <a:fillRect/>
          </a:stretch>
        </p:blipFill>
        <p:spPr>
          <a:xfrm>
            <a:off x="742950" y="2171700"/>
            <a:ext cx="8881110" cy="5944235"/>
          </a:xfrm>
          <a:prstGeom prst="rect">
            <a:avLst/>
          </a:prstGeom>
        </p:spPr>
      </p:pic>
      <p:pic>
        <p:nvPicPr>
          <p:cNvPr id="17" name="Picture 16"/>
          <p:cNvPicPr>
            <a:picLocks noChangeAspect="1"/>
          </p:cNvPicPr>
          <p:nvPr/>
        </p:nvPicPr>
        <p:blipFill>
          <a:blip r:embed="rId2"/>
          <a:stretch>
            <a:fillRect/>
          </a:stretch>
        </p:blipFill>
        <p:spPr>
          <a:xfrm>
            <a:off x="9530080" y="2171700"/>
            <a:ext cx="8077200" cy="594423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5ED"/>
        </a:solidFill>
        <a:effectLst/>
      </p:bgPr>
    </p:bg>
    <p:spTree>
      <p:nvGrpSpPr>
        <p:cNvPr id="1" name=""/>
        <p:cNvGrpSpPr/>
        <p:nvPr/>
      </p:nvGrpSpPr>
      <p:grpSpPr>
        <a:xfrm>
          <a:off x="0" y="0"/>
          <a:ext cx="0" cy="0"/>
          <a:chOff x="0" y="0"/>
          <a:chExt cx="0" cy="0"/>
        </a:xfrm>
      </p:grpSpPr>
      <p:sp>
        <p:nvSpPr>
          <p:cNvPr id="36" name="Text Box 35"/>
          <p:cNvSpPr txBox="1"/>
          <p:nvPr/>
        </p:nvSpPr>
        <p:spPr>
          <a:xfrm>
            <a:off x="914400" y="952500"/>
            <a:ext cx="16117570" cy="645160"/>
          </a:xfrm>
          <a:prstGeom prst="rect">
            <a:avLst/>
          </a:prstGeom>
          <a:noFill/>
        </p:spPr>
        <p:txBody>
          <a:bodyPr wrap="square" rtlCol="0">
            <a:spAutoFit/>
          </a:bodyPr>
          <a:p>
            <a:r>
              <a:rPr lang="en-US" altLang="en-US" sz="3600" b="1">
                <a:latin typeface="Times New Roman" panose="02020603050405020304" charset="0"/>
                <a:cs typeface="Times New Roman" panose="02020603050405020304" charset="0"/>
              </a:rPr>
              <a:t>Câu 1: Dự </a:t>
            </a:r>
            <a:r>
              <a:rPr lang="en-US" altLang="en-US" sz="3600" b="1">
                <a:latin typeface="Times New Roman" panose="02020603050405020304" charset="0"/>
                <a:cs typeface="Times New Roman" panose="02020603050405020304" charset="0"/>
              </a:rPr>
              <a:t>đ</a:t>
            </a:r>
            <a:r>
              <a:rPr lang="en-US" altLang="en-US" sz="3600" b="1">
                <a:latin typeface="Times New Roman" panose="02020603050405020304" charset="0"/>
                <a:cs typeface="Times New Roman" panose="02020603050405020304" charset="0"/>
              </a:rPr>
              <a:t>oán vị trí tuyển dụng thuộc nhóm nghề nào dựa trên kỹ n</a:t>
            </a:r>
            <a:r>
              <a:rPr lang="en-US" altLang="en-US" sz="3600" b="1">
                <a:latin typeface="Times New Roman" panose="02020603050405020304" charset="0"/>
                <a:cs typeface="Times New Roman" panose="02020603050405020304" charset="0"/>
              </a:rPr>
              <a:t>ă</a:t>
            </a:r>
            <a:r>
              <a:rPr lang="en-US" altLang="en-US" sz="3600" b="1">
                <a:latin typeface="Times New Roman" panose="02020603050405020304" charset="0"/>
                <a:cs typeface="Times New Roman" panose="02020603050405020304" charset="0"/>
              </a:rPr>
              <a:t>ng yêu cầu</a:t>
            </a:r>
            <a:endParaRPr lang="en-US" altLang="en-US" sz="3600" b="1">
              <a:latin typeface="Times New Roman" panose="02020603050405020304" charset="0"/>
              <a:cs typeface="Times New Roman" panose="02020603050405020304" charset="0"/>
            </a:endParaRPr>
          </a:p>
        </p:txBody>
      </p:sp>
      <p:pic>
        <p:nvPicPr>
          <p:cNvPr id="37" name="Picture 36"/>
          <p:cNvPicPr>
            <a:picLocks noChangeAspect="1"/>
          </p:cNvPicPr>
          <p:nvPr/>
        </p:nvPicPr>
        <p:blipFill>
          <a:blip r:embed="rId1"/>
          <a:stretch>
            <a:fillRect/>
          </a:stretch>
        </p:blipFill>
        <p:spPr>
          <a:xfrm>
            <a:off x="11887200" y="2171700"/>
            <a:ext cx="5903595" cy="6779895"/>
          </a:xfrm>
          <a:prstGeom prst="rect">
            <a:avLst/>
          </a:prstGeom>
        </p:spPr>
      </p:pic>
      <p:sp>
        <p:nvSpPr>
          <p:cNvPr id="38" name="Text Box 37"/>
          <p:cNvSpPr txBox="1"/>
          <p:nvPr/>
        </p:nvSpPr>
        <p:spPr>
          <a:xfrm>
            <a:off x="943610" y="2019300"/>
            <a:ext cx="10464165" cy="6777355"/>
          </a:xfrm>
          <a:prstGeom prst="rect">
            <a:avLst/>
          </a:prstGeom>
          <a:noFill/>
        </p:spPr>
        <p:txBody>
          <a:bodyPr wrap="square" rtlCol="0">
            <a:noAutofit/>
          </a:bodyPr>
          <a:p>
            <a:pPr indent="457200" algn="just"/>
            <a:r>
              <a:rPr lang="en-US" altLang="en-US" sz="2800">
                <a:latin typeface="Times New Roman" panose="02020603050405020304" charset="0"/>
                <a:cs typeface="Times New Roman" panose="02020603050405020304" charset="0"/>
              </a:rPr>
              <a:t>Kết quả phân bố nhóm nghề ban </a:t>
            </a:r>
            <a:r>
              <a:rPr lang="en-US" altLang="en-US" sz="2800">
                <a:latin typeface="Times New Roman" panose="02020603050405020304" charset="0"/>
                <a:cs typeface="Times New Roman" panose="02020603050405020304" charset="0"/>
              </a:rPr>
              <a:t>đ</a:t>
            </a:r>
            <a:r>
              <a:rPr lang="en-US" altLang="en-US" sz="2800">
                <a:latin typeface="Times New Roman" panose="02020603050405020304" charset="0"/>
                <a:cs typeface="Times New Roman" panose="02020603050405020304" charset="0"/>
              </a:rPr>
              <a:t>ầu cho thấy nhóm Other chiếm số l</a:t>
            </a:r>
            <a:r>
              <a:rPr lang="en-US" altLang="en-US" sz="2800">
                <a:latin typeface="Times New Roman" panose="02020603050405020304" charset="0"/>
                <a:cs typeface="Times New Roman" panose="02020603050405020304" charset="0"/>
              </a:rPr>
              <a:t>ư</a:t>
            </a:r>
            <a:r>
              <a:rPr lang="en-US" altLang="en-US" sz="2800">
                <a:latin typeface="Times New Roman" panose="02020603050405020304" charset="0"/>
                <a:cs typeface="Times New Roman" panose="02020603050405020304" charset="0"/>
              </a:rPr>
              <a:t>ợng lớn nhất với 1665 mẫu, t</a:t>
            </a:r>
            <a:r>
              <a:rPr lang="en-US" altLang="en-US" sz="2800">
                <a:latin typeface="Times New Roman" panose="02020603050405020304" charset="0"/>
                <a:cs typeface="Times New Roman" panose="02020603050405020304" charset="0"/>
              </a:rPr>
              <a:t>ư</a:t>
            </a:r>
            <a:r>
              <a:rPr lang="en-US" altLang="en-US" sz="2800">
                <a:latin typeface="Times New Roman" panose="02020603050405020304" charset="0"/>
                <a:cs typeface="Times New Roman" panose="02020603050405020304" charset="0"/>
              </a:rPr>
              <a:t>ơng </a:t>
            </a:r>
            <a:r>
              <a:rPr lang="en-US" altLang="en-US" sz="2800">
                <a:latin typeface="Times New Roman" panose="02020603050405020304" charset="0"/>
                <a:cs typeface="Times New Roman" panose="02020603050405020304" charset="0"/>
              </a:rPr>
              <a:t>đư</a:t>
            </a:r>
            <a:r>
              <a:rPr lang="en-US" altLang="en-US" sz="2800">
                <a:latin typeface="Times New Roman" panose="02020603050405020304" charset="0"/>
                <a:cs typeface="Times New Roman" panose="02020603050405020304" charset="0"/>
              </a:rPr>
              <a:t>ơng phần lớn dữ liệu trong tập huấn luyện. </a:t>
            </a:r>
            <a:r>
              <a:rPr lang="en-US" altLang="en-US" sz="2800">
                <a:latin typeface="Times New Roman" panose="02020603050405020304" charset="0"/>
                <a:cs typeface="Times New Roman" panose="02020603050405020304" charset="0"/>
              </a:rPr>
              <a:t>Đ</a:t>
            </a:r>
            <a:r>
              <a:rPr lang="en-US" altLang="en-US" sz="2800">
                <a:latin typeface="Times New Roman" panose="02020603050405020304" charset="0"/>
                <a:cs typeface="Times New Roman" panose="02020603050405020304" charset="0"/>
              </a:rPr>
              <a:t>iều này cho thấy nhiều vị trí tuyển dụng ch</a:t>
            </a:r>
            <a:r>
              <a:rPr lang="en-US" altLang="en-US" sz="2800">
                <a:latin typeface="Times New Roman" panose="02020603050405020304" charset="0"/>
                <a:cs typeface="Times New Roman" panose="02020603050405020304" charset="0"/>
              </a:rPr>
              <a:t>ư</a:t>
            </a:r>
            <a:r>
              <a:rPr lang="en-US" altLang="en-US" sz="2800">
                <a:latin typeface="Times New Roman" panose="02020603050405020304" charset="0"/>
                <a:cs typeface="Times New Roman" panose="02020603050405020304" charset="0"/>
              </a:rPr>
              <a:t>a </a:t>
            </a:r>
            <a:r>
              <a:rPr lang="en-US" altLang="en-US" sz="2800">
                <a:latin typeface="Times New Roman" panose="02020603050405020304" charset="0"/>
                <a:cs typeface="Times New Roman" panose="02020603050405020304" charset="0"/>
              </a:rPr>
              <a:t>đư</a:t>
            </a:r>
            <a:r>
              <a:rPr lang="en-US" altLang="en-US" sz="2800">
                <a:latin typeface="Times New Roman" panose="02020603050405020304" charset="0"/>
                <a:cs typeface="Times New Roman" panose="02020603050405020304" charset="0"/>
              </a:rPr>
              <a:t>ợc phân loại vào các nhóm nghề cụ thể hoặc có tên công việc </a:t>
            </a:r>
            <a:r>
              <a:rPr lang="en-US" altLang="en-US" sz="2800">
                <a:latin typeface="Times New Roman" panose="02020603050405020304" charset="0"/>
                <a:cs typeface="Times New Roman" panose="02020603050405020304" charset="0"/>
              </a:rPr>
              <a:t>đ</a:t>
            </a:r>
            <a:r>
              <a:rPr lang="en-US" altLang="en-US" sz="2800">
                <a:latin typeface="Times New Roman" panose="02020603050405020304" charset="0"/>
                <a:cs typeface="Times New Roman" panose="02020603050405020304" charset="0"/>
              </a:rPr>
              <a:t>a dạng, khó chuẩn hóa.</a:t>
            </a:r>
            <a:endParaRPr lang="en-US" altLang="en-US" sz="2800">
              <a:latin typeface="Times New Roman" panose="02020603050405020304" charset="0"/>
              <a:cs typeface="Times New Roman" panose="02020603050405020304" charset="0"/>
            </a:endParaRPr>
          </a:p>
          <a:p>
            <a:pPr indent="457200" algn="just"/>
            <a:endParaRPr lang="en-US" altLang="en-US" sz="2800">
              <a:latin typeface="Times New Roman" panose="02020603050405020304" charset="0"/>
              <a:cs typeface="Times New Roman" panose="02020603050405020304" charset="0"/>
            </a:endParaRPr>
          </a:p>
          <a:p>
            <a:pPr indent="457200" algn="just"/>
            <a:r>
              <a:rPr lang="en-US" altLang="en-US" sz="2800">
                <a:latin typeface="Times New Roman" panose="02020603050405020304" charset="0"/>
                <a:cs typeface="Times New Roman" panose="02020603050405020304" charset="0"/>
              </a:rPr>
              <a:t>Trong các nhóm nghề </a:t>
            </a:r>
            <a:r>
              <a:rPr lang="en-US" altLang="en-US" sz="2800">
                <a:latin typeface="Times New Roman" panose="02020603050405020304" charset="0"/>
                <a:cs typeface="Times New Roman" panose="02020603050405020304" charset="0"/>
              </a:rPr>
              <a:t>đ</a:t>
            </a:r>
            <a:r>
              <a:rPr lang="en-US" altLang="en-US" sz="2800">
                <a:latin typeface="Times New Roman" panose="02020603050405020304" charset="0"/>
                <a:cs typeface="Times New Roman" panose="02020603050405020304" charset="0"/>
              </a:rPr>
              <a:t>ã xác </a:t>
            </a:r>
            <a:r>
              <a:rPr lang="en-US" altLang="en-US" sz="2800">
                <a:latin typeface="Times New Roman" panose="02020603050405020304" charset="0"/>
                <a:cs typeface="Times New Roman" panose="02020603050405020304" charset="0"/>
              </a:rPr>
              <a:t>đ</a:t>
            </a:r>
            <a:r>
              <a:rPr lang="en-US" altLang="en-US" sz="2800">
                <a:latin typeface="Times New Roman" panose="02020603050405020304" charset="0"/>
                <a:cs typeface="Times New Roman" panose="02020603050405020304" charset="0"/>
              </a:rPr>
              <a:t>ịnh, Frontend có số l</a:t>
            </a:r>
            <a:r>
              <a:rPr lang="en-US" altLang="en-US" sz="2800">
                <a:latin typeface="Times New Roman" panose="02020603050405020304" charset="0"/>
                <a:cs typeface="Times New Roman" panose="02020603050405020304" charset="0"/>
              </a:rPr>
              <a:t>ư</a:t>
            </a:r>
            <a:r>
              <a:rPr lang="en-US" altLang="en-US" sz="2800">
                <a:latin typeface="Times New Roman" panose="02020603050405020304" charset="0"/>
                <a:cs typeface="Times New Roman" panose="02020603050405020304" charset="0"/>
              </a:rPr>
              <a:t>ợng nhiều nhất với 230 mẫu, tiếp theo là Backend (57 mẫu) và AI (38 mẫu). Các nhóm Data, Mobile và DevOps có số l</a:t>
            </a:r>
            <a:r>
              <a:rPr lang="en-US" altLang="en-US" sz="2800">
                <a:latin typeface="Times New Roman" panose="02020603050405020304" charset="0"/>
                <a:cs typeface="Times New Roman" panose="02020603050405020304" charset="0"/>
              </a:rPr>
              <a:t>ư</a:t>
            </a:r>
            <a:r>
              <a:rPr lang="en-US" altLang="en-US" sz="2800">
                <a:latin typeface="Times New Roman" panose="02020603050405020304" charset="0"/>
                <a:cs typeface="Times New Roman" panose="02020603050405020304" charset="0"/>
              </a:rPr>
              <a:t>ợng mẫu khá ít, lần l</a:t>
            </a:r>
            <a:r>
              <a:rPr lang="en-US" altLang="en-US" sz="2800">
                <a:latin typeface="Times New Roman" panose="02020603050405020304" charset="0"/>
                <a:cs typeface="Times New Roman" panose="02020603050405020304" charset="0"/>
              </a:rPr>
              <a:t>ư</a:t>
            </a:r>
            <a:r>
              <a:rPr lang="en-US" altLang="en-US" sz="2800">
                <a:latin typeface="Times New Roman" panose="02020603050405020304" charset="0"/>
                <a:cs typeface="Times New Roman" panose="02020603050405020304" charset="0"/>
              </a:rPr>
              <a:t>ợt là 20, 17 và 12 mẫu.</a:t>
            </a:r>
            <a:endParaRPr lang="en-US" altLang="en-US" sz="2800">
              <a:latin typeface="Times New Roman" panose="02020603050405020304" charset="0"/>
              <a:cs typeface="Times New Roman" panose="02020603050405020304" charset="0"/>
            </a:endParaRPr>
          </a:p>
          <a:p>
            <a:pPr algn="just"/>
            <a:endParaRPr lang="en-US" altLang="en-US" sz="2800">
              <a:latin typeface="Times New Roman" panose="02020603050405020304" charset="0"/>
              <a:cs typeface="Times New Roman" panose="02020603050405020304" charset="0"/>
            </a:endParaRPr>
          </a:p>
          <a:p>
            <a:pPr indent="457200" algn="just"/>
            <a:r>
              <a:rPr lang="en-US" altLang="en-US" sz="2800">
                <a:latin typeface="Times New Roman" panose="02020603050405020304" charset="0"/>
                <a:cs typeface="Times New Roman" panose="02020603050405020304" charset="0"/>
              </a:rPr>
              <a:t>Sự chênh lệch lớn giữa các nhóm cho thấy bộ dữ liệu </a:t>
            </a:r>
            <a:r>
              <a:rPr lang="en-US" altLang="en-US" sz="2800">
                <a:latin typeface="Times New Roman" panose="02020603050405020304" charset="0"/>
                <a:cs typeface="Times New Roman" panose="02020603050405020304" charset="0"/>
              </a:rPr>
              <a:t>đ</a:t>
            </a:r>
            <a:r>
              <a:rPr lang="en-US" altLang="en-US" sz="2800">
                <a:latin typeface="Times New Roman" panose="02020603050405020304" charset="0"/>
                <a:cs typeface="Times New Roman" panose="02020603050405020304" charset="0"/>
              </a:rPr>
              <a:t>ang bị mất cân bằng dữ liệu (Data Imbalance). Nhóm Other chiếm </a:t>
            </a:r>
            <a:r>
              <a:rPr lang="en-US" altLang="en-US" sz="2800">
                <a:latin typeface="Times New Roman" panose="02020603050405020304" charset="0"/>
                <a:cs typeface="Times New Roman" panose="02020603050405020304" charset="0"/>
              </a:rPr>
              <a:t>ư</a:t>
            </a:r>
            <a:r>
              <a:rPr lang="en-US" altLang="en-US" sz="2800">
                <a:latin typeface="Times New Roman" panose="02020603050405020304" charset="0"/>
                <a:cs typeface="Times New Roman" panose="02020603050405020304" charset="0"/>
              </a:rPr>
              <a:t>u thế tuyệt </a:t>
            </a:r>
            <a:r>
              <a:rPr lang="en-US" altLang="en-US" sz="2800">
                <a:latin typeface="Times New Roman" panose="02020603050405020304" charset="0"/>
                <a:cs typeface="Times New Roman" panose="02020603050405020304" charset="0"/>
              </a:rPr>
              <a:t>đ</a:t>
            </a:r>
            <a:r>
              <a:rPr lang="en-US" altLang="en-US" sz="2800">
                <a:latin typeface="Times New Roman" panose="02020603050405020304" charset="0"/>
                <a:cs typeface="Times New Roman" panose="02020603050405020304" charset="0"/>
              </a:rPr>
              <a:t>ối trong khi các nhóm còn lại có số l</a:t>
            </a:r>
            <a:r>
              <a:rPr lang="en-US" altLang="en-US" sz="2800">
                <a:latin typeface="Times New Roman" panose="02020603050405020304" charset="0"/>
                <a:cs typeface="Times New Roman" panose="02020603050405020304" charset="0"/>
              </a:rPr>
              <a:t>ư</a:t>
            </a:r>
            <a:r>
              <a:rPr lang="en-US" altLang="en-US" sz="2800">
                <a:latin typeface="Times New Roman" panose="02020603050405020304" charset="0"/>
                <a:cs typeface="Times New Roman" panose="02020603050405020304" charset="0"/>
              </a:rPr>
              <a:t>ợng rất thấp.</a:t>
            </a:r>
            <a:endParaRPr lang="en-US" altLang="en-US" sz="2800">
              <a:latin typeface="Times New Roman" panose="02020603050405020304" charset="0"/>
              <a:cs typeface="Times New Roman" panose="0202060305040502030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5ED"/>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10591800" y="1790700"/>
            <a:ext cx="7258050" cy="7080885"/>
          </a:xfrm>
          <a:prstGeom prst="rect">
            <a:avLst/>
          </a:prstGeom>
        </p:spPr>
      </p:pic>
      <p:sp>
        <p:nvSpPr>
          <p:cNvPr id="3" name="Text Box 2"/>
          <p:cNvSpPr txBox="1"/>
          <p:nvPr/>
        </p:nvSpPr>
        <p:spPr>
          <a:xfrm>
            <a:off x="609600" y="800100"/>
            <a:ext cx="9634855" cy="8462645"/>
          </a:xfrm>
          <a:prstGeom prst="rect">
            <a:avLst/>
          </a:prstGeom>
          <a:noFill/>
        </p:spPr>
        <p:txBody>
          <a:bodyPr wrap="square" rtlCol="0">
            <a:spAutoFit/>
          </a:bodyPr>
          <a:p>
            <a:pPr indent="457200" algn="just"/>
            <a:r>
              <a:rPr lang="en-US" altLang="en-US" sz="3200">
                <a:latin typeface="Times New Roman" panose="02020603050405020304" charset="0"/>
                <a:cs typeface="Times New Roman" panose="02020603050405020304" charset="0"/>
              </a:rPr>
              <a:t>Mô hình Random Forest </a:t>
            </a:r>
            <a:r>
              <a:rPr lang="en-US" altLang="en-US" sz="3200">
                <a:latin typeface="Times New Roman" panose="02020603050405020304" charset="0"/>
                <a:cs typeface="Times New Roman" panose="02020603050405020304" charset="0"/>
              </a:rPr>
              <a:t>đ</a:t>
            </a:r>
            <a:r>
              <a:rPr lang="en-US" altLang="en-US" sz="3200">
                <a:latin typeface="Times New Roman" panose="02020603050405020304" charset="0"/>
                <a:cs typeface="Times New Roman" panose="02020603050405020304" charset="0"/>
              </a:rPr>
              <a:t>ạt </a:t>
            </a:r>
            <a:r>
              <a:rPr lang="en-US" altLang="en-US" sz="3200">
                <a:latin typeface="Times New Roman" panose="02020603050405020304" charset="0"/>
                <a:cs typeface="Times New Roman" panose="02020603050405020304" charset="0"/>
              </a:rPr>
              <a:t>đ</a:t>
            </a:r>
            <a:r>
              <a:rPr lang="en-US" altLang="en-US" sz="3200">
                <a:latin typeface="Times New Roman" panose="02020603050405020304" charset="0"/>
                <a:cs typeface="Times New Roman" panose="02020603050405020304" charset="0"/>
              </a:rPr>
              <a:t>ộ chính xác (Accuracy) 89,5%, cho thấy mô hình có khả n</a:t>
            </a:r>
            <a:r>
              <a:rPr lang="en-US" altLang="en-US" sz="3200">
                <a:latin typeface="Times New Roman" panose="02020603050405020304" charset="0"/>
                <a:cs typeface="Times New Roman" panose="02020603050405020304" charset="0"/>
              </a:rPr>
              <a:t>ă</a:t>
            </a:r>
            <a:r>
              <a:rPr lang="en-US" altLang="en-US" sz="3200">
                <a:latin typeface="Times New Roman" panose="02020603050405020304" charset="0"/>
                <a:cs typeface="Times New Roman" panose="02020603050405020304" charset="0"/>
              </a:rPr>
              <a:t>ng dự </a:t>
            </a:r>
            <a:r>
              <a:rPr lang="en-US" altLang="en-US" sz="3200">
                <a:latin typeface="Times New Roman" panose="02020603050405020304" charset="0"/>
                <a:cs typeface="Times New Roman" panose="02020603050405020304" charset="0"/>
              </a:rPr>
              <a:t>đ</a:t>
            </a:r>
            <a:r>
              <a:rPr lang="en-US" altLang="en-US" sz="3200">
                <a:latin typeface="Times New Roman" panose="02020603050405020304" charset="0"/>
                <a:cs typeface="Times New Roman" panose="02020603050405020304" charset="0"/>
              </a:rPr>
              <a:t>oán khá tốt trên tập dữ liệu kiểm tra. Kết quả này chứng tỏ các kỹ n</a:t>
            </a:r>
            <a:r>
              <a:rPr lang="en-US" altLang="en-US" sz="3200">
                <a:latin typeface="Times New Roman" panose="02020603050405020304" charset="0"/>
                <a:cs typeface="Times New Roman" panose="02020603050405020304" charset="0"/>
              </a:rPr>
              <a:t>ă</a:t>
            </a:r>
            <a:r>
              <a:rPr lang="en-US" altLang="en-US" sz="3200">
                <a:latin typeface="Times New Roman" panose="02020603050405020304" charset="0"/>
                <a:cs typeface="Times New Roman" panose="02020603050405020304" charset="0"/>
              </a:rPr>
              <a:t>ng yêu cầu trong tin tuyển dụng có mối liên hệ nhất </a:t>
            </a:r>
            <a:r>
              <a:rPr lang="en-US" altLang="en-US" sz="3200">
                <a:latin typeface="Times New Roman" panose="02020603050405020304" charset="0"/>
                <a:cs typeface="Times New Roman" panose="02020603050405020304" charset="0"/>
              </a:rPr>
              <a:t>đ</a:t>
            </a:r>
            <a:r>
              <a:rPr lang="en-US" altLang="en-US" sz="3200">
                <a:latin typeface="Times New Roman" panose="02020603050405020304" charset="0"/>
                <a:cs typeface="Times New Roman" panose="02020603050405020304" charset="0"/>
              </a:rPr>
              <a:t>ịnh với nhóm nghề nghiệp t</a:t>
            </a:r>
            <a:r>
              <a:rPr lang="en-US" altLang="en-US" sz="3200">
                <a:latin typeface="Times New Roman" panose="02020603050405020304" charset="0"/>
                <a:cs typeface="Times New Roman" panose="02020603050405020304" charset="0"/>
              </a:rPr>
              <a:t>ư</a:t>
            </a:r>
            <a:r>
              <a:rPr lang="en-US" altLang="en-US" sz="3200">
                <a:latin typeface="Times New Roman" panose="02020603050405020304" charset="0"/>
                <a:cs typeface="Times New Roman" panose="02020603050405020304" charset="0"/>
              </a:rPr>
              <a:t>ơng ứng.</a:t>
            </a:r>
            <a:endParaRPr lang="en-US" altLang="en-US" sz="3200">
              <a:latin typeface="Times New Roman" panose="02020603050405020304" charset="0"/>
              <a:cs typeface="Times New Roman" panose="02020603050405020304" charset="0"/>
            </a:endParaRPr>
          </a:p>
          <a:p>
            <a:pPr algn="just"/>
            <a:endParaRPr lang="en-US" altLang="en-US" sz="3200">
              <a:latin typeface="Times New Roman" panose="02020603050405020304" charset="0"/>
              <a:cs typeface="Times New Roman" panose="02020603050405020304" charset="0"/>
            </a:endParaRPr>
          </a:p>
          <a:p>
            <a:pPr indent="457200" algn="just"/>
            <a:r>
              <a:rPr lang="en-US" altLang="en-US" sz="3200">
                <a:latin typeface="Times New Roman" panose="02020603050405020304" charset="0"/>
                <a:cs typeface="Times New Roman" panose="02020603050405020304" charset="0"/>
              </a:rPr>
              <a:t>Nhóm Other </a:t>
            </a:r>
            <a:r>
              <a:rPr lang="en-US" altLang="en-US" sz="3200">
                <a:latin typeface="Times New Roman" panose="02020603050405020304" charset="0"/>
                <a:cs typeface="Times New Roman" panose="02020603050405020304" charset="0"/>
              </a:rPr>
              <a:t>đ</a:t>
            </a:r>
            <a:r>
              <a:rPr lang="en-US" altLang="en-US" sz="3200">
                <a:latin typeface="Times New Roman" panose="02020603050405020304" charset="0"/>
                <a:cs typeface="Times New Roman" panose="02020603050405020304" charset="0"/>
              </a:rPr>
              <a:t>ạt kết quả tốt nhất với F1-score = 0.94, trong khi nhóm Frontend c</a:t>
            </a:r>
            <a:r>
              <a:rPr lang="en-US" altLang="en-US" sz="3200">
                <a:latin typeface="Times New Roman" panose="02020603050405020304" charset="0"/>
                <a:cs typeface="Times New Roman" panose="02020603050405020304" charset="0"/>
              </a:rPr>
              <a:t>ũ</a:t>
            </a:r>
            <a:r>
              <a:rPr lang="en-US" altLang="en-US" sz="3200">
                <a:latin typeface="Times New Roman" panose="02020603050405020304" charset="0"/>
                <a:cs typeface="Times New Roman" panose="02020603050405020304" charset="0"/>
              </a:rPr>
              <a:t>ng </a:t>
            </a:r>
            <a:r>
              <a:rPr lang="en-US" altLang="en-US" sz="3200">
                <a:latin typeface="Times New Roman" panose="02020603050405020304" charset="0"/>
                <a:cs typeface="Times New Roman" panose="02020603050405020304" charset="0"/>
              </a:rPr>
              <a:t>đ</a:t>
            </a:r>
            <a:r>
              <a:rPr lang="en-US" altLang="en-US" sz="3200">
                <a:latin typeface="Times New Roman" panose="02020603050405020304" charset="0"/>
                <a:cs typeface="Times New Roman" panose="02020603050405020304" charset="0"/>
              </a:rPr>
              <a:t>ạt kết quả t</a:t>
            </a:r>
            <a:r>
              <a:rPr lang="en-US" altLang="en-US" sz="3200">
                <a:latin typeface="Times New Roman" panose="02020603050405020304" charset="0"/>
                <a:cs typeface="Times New Roman" panose="02020603050405020304" charset="0"/>
              </a:rPr>
              <a:t>ư</a:t>
            </a:r>
            <a:r>
              <a:rPr lang="en-US" altLang="en-US" sz="3200">
                <a:latin typeface="Times New Roman" panose="02020603050405020304" charset="0"/>
                <a:cs typeface="Times New Roman" panose="02020603050405020304" charset="0"/>
              </a:rPr>
              <a:t>ơng </a:t>
            </a:r>
            <a:r>
              <a:rPr lang="en-US" altLang="en-US" sz="3200">
                <a:latin typeface="Times New Roman" panose="02020603050405020304" charset="0"/>
                <a:cs typeface="Times New Roman" panose="02020603050405020304" charset="0"/>
              </a:rPr>
              <a:t>đ</a:t>
            </a:r>
            <a:r>
              <a:rPr lang="en-US" altLang="en-US" sz="3200">
                <a:latin typeface="Times New Roman" panose="02020603050405020304" charset="0"/>
                <a:cs typeface="Times New Roman" panose="02020603050405020304" charset="0"/>
              </a:rPr>
              <a:t>ối tốt với F1-score = 0.73. </a:t>
            </a:r>
            <a:r>
              <a:rPr lang="en-US" altLang="en-US" sz="3200">
                <a:latin typeface="Times New Roman" panose="02020603050405020304" charset="0"/>
                <a:cs typeface="Times New Roman" panose="02020603050405020304" charset="0"/>
              </a:rPr>
              <a:t>Đ</a:t>
            </a:r>
            <a:r>
              <a:rPr lang="en-US" altLang="en-US" sz="3200">
                <a:latin typeface="Times New Roman" panose="02020603050405020304" charset="0"/>
                <a:cs typeface="Times New Roman" panose="02020603050405020304" charset="0"/>
              </a:rPr>
              <a:t>iều này cho thấy mô hình có khả n</a:t>
            </a:r>
            <a:r>
              <a:rPr lang="en-US" altLang="en-US" sz="3200">
                <a:latin typeface="Times New Roman" panose="02020603050405020304" charset="0"/>
                <a:cs typeface="Times New Roman" panose="02020603050405020304" charset="0"/>
              </a:rPr>
              <a:t>ă</a:t>
            </a:r>
            <a:r>
              <a:rPr lang="en-US" altLang="en-US" sz="3200">
                <a:latin typeface="Times New Roman" panose="02020603050405020304" charset="0"/>
                <a:cs typeface="Times New Roman" panose="02020603050405020304" charset="0"/>
              </a:rPr>
              <a:t>ng nhận diện tốt các nhóm nghề có số l</a:t>
            </a:r>
            <a:r>
              <a:rPr lang="en-US" altLang="en-US" sz="3200">
                <a:latin typeface="Times New Roman" panose="02020603050405020304" charset="0"/>
                <a:cs typeface="Times New Roman" panose="02020603050405020304" charset="0"/>
              </a:rPr>
              <a:t>ư</a:t>
            </a:r>
            <a:r>
              <a:rPr lang="en-US" altLang="en-US" sz="3200">
                <a:latin typeface="Times New Roman" panose="02020603050405020304" charset="0"/>
                <a:cs typeface="Times New Roman" panose="02020603050405020304" charset="0"/>
              </a:rPr>
              <a:t>ợng mẫu lớn trong dữ liệu.</a:t>
            </a:r>
            <a:endParaRPr lang="en-US" altLang="en-US" sz="3200">
              <a:latin typeface="Times New Roman" panose="02020603050405020304" charset="0"/>
              <a:cs typeface="Times New Roman" panose="02020603050405020304" charset="0"/>
            </a:endParaRPr>
          </a:p>
          <a:p>
            <a:pPr algn="just"/>
            <a:endParaRPr lang="en-US" altLang="en-US" sz="3200">
              <a:latin typeface="Times New Roman" panose="02020603050405020304" charset="0"/>
              <a:cs typeface="Times New Roman" panose="02020603050405020304" charset="0"/>
            </a:endParaRPr>
          </a:p>
          <a:p>
            <a:pPr indent="457200" algn="just"/>
            <a:r>
              <a:rPr lang="en-US" altLang="en-US" sz="3200">
                <a:latin typeface="Times New Roman" panose="02020603050405020304" charset="0"/>
                <a:cs typeface="Times New Roman" panose="02020603050405020304" charset="0"/>
              </a:rPr>
              <a:t>Tuy nhiên, các nhóm AI, Data, DevOps và Mobile có </a:t>
            </a:r>
            <a:r>
              <a:rPr lang="en-US" altLang="en-US" sz="3200">
                <a:latin typeface="Times New Roman" panose="02020603050405020304" charset="0"/>
                <a:cs typeface="Times New Roman" panose="02020603050405020304" charset="0"/>
              </a:rPr>
              <a:t>đ</a:t>
            </a:r>
            <a:r>
              <a:rPr lang="en-US" altLang="en-US" sz="3200">
                <a:latin typeface="Times New Roman" panose="02020603050405020304" charset="0"/>
                <a:cs typeface="Times New Roman" panose="02020603050405020304" charset="0"/>
              </a:rPr>
              <a:t>ộ chính xác rất thấp hoặc bằng 0. Nguyên nhân chủ yếu là do số l</a:t>
            </a:r>
            <a:r>
              <a:rPr lang="en-US" altLang="en-US" sz="3200">
                <a:latin typeface="Times New Roman" panose="02020603050405020304" charset="0"/>
                <a:cs typeface="Times New Roman" panose="02020603050405020304" charset="0"/>
              </a:rPr>
              <a:t>ư</a:t>
            </a:r>
            <a:r>
              <a:rPr lang="en-US" altLang="en-US" sz="3200">
                <a:latin typeface="Times New Roman" panose="02020603050405020304" charset="0"/>
                <a:cs typeface="Times New Roman" panose="02020603050405020304" charset="0"/>
              </a:rPr>
              <a:t>ợng mẫu của các nhóm này quá ít so với nhóm Other, khiến mô hình không học </a:t>
            </a:r>
            <a:r>
              <a:rPr lang="en-US" altLang="en-US" sz="3200">
                <a:latin typeface="Times New Roman" panose="02020603050405020304" charset="0"/>
                <a:cs typeface="Times New Roman" panose="02020603050405020304" charset="0"/>
              </a:rPr>
              <a:t>đư</a:t>
            </a:r>
            <a:r>
              <a:rPr lang="en-US" altLang="en-US" sz="3200">
                <a:latin typeface="Times New Roman" panose="02020603050405020304" charset="0"/>
                <a:cs typeface="Times New Roman" panose="02020603050405020304" charset="0"/>
              </a:rPr>
              <a:t>ợc </a:t>
            </a:r>
            <a:r>
              <a:rPr lang="en-US" altLang="en-US" sz="3200">
                <a:latin typeface="Times New Roman" panose="02020603050405020304" charset="0"/>
                <a:cs typeface="Times New Roman" panose="02020603050405020304" charset="0"/>
              </a:rPr>
              <a:t>đ</a:t>
            </a:r>
            <a:r>
              <a:rPr lang="en-US" altLang="en-US" sz="3200">
                <a:latin typeface="Times New Roman" panose="02020603050405020304" charset="0"/>
                <a:cs typeface="Times New Roman" panose="02020603050405020304" charset="0"/>
              </a:rPr>
              <a:t>ầy </a:t>
            </a:r>
            <a:r>
              <a:rPr lang="en-US" altLang="en-US" sz="3200">
                <a:latin typeface="Times New Roman" panose="02020603050405020304" charset="0"/>
                <a:cs typeface="Times New Roman" panose="02020603050405020304" charset="0"/>
              </a:rPr>
              <a:t>đ</a:t>
            </a:r>
            <a:r>
              <a:rPr lang="en-US" altLang="en-US" sz="3200">
                <a:latin typeface="Times New Roman" panose="02020603050405020304" charset="0"/>
                <a:cs typeface="Times New Roman" panose="02020603050405020304" charset="0"/>
              </a:rPr>
              <a:t>ủ </a:t>
            </a:r>
            <a:r>
              <a:rPr lang="en-US" altLang="en-US" sz="3200">
                <a:latin typeface="Times New Roman" panose="02020603050405020304" charset="0"/>
                <a:cs typeface="Times New Roman" panose="02020603050405020304" charset="0"/>
              </a:rPr>
              <a:t>đ</a:t>
            </a:r>
            <a:r>
              <a:rPr lang="en-US" altLang="en-US" sz="3200">
                <a:latin typeface="Times New Roman" panose="02020603050405020304" charset="0"/>
                <a:cs typeface="Times New Roman" panose="02020603050405020304" charset="0"/>
              </a:rPr>
              <a:t>ặc tr</a:t>
            </a:r>
            <a:r>
              <a:rPr lang="en-US" altLang="en-US" sz="3200">
                <a:latin typeface="Times New Roman" panose="02020603050405020304" charset="0"/>
                <a:cs typeface="Times New Roman" panose="02020603050405020304" charset="0"/>
              </a:rPr>
              <a:t>ư</a:t>
            </a:r>
            <a:r>
              <a:rPr lang="en-US" altLang="en-US" sz="3200">
                <a:latin typeface="Times New Roman" panose="02020603050405020304" charset="0"/>
                <a:cs typeface="Times New Roman" panose="02020603050405020304" charset="0"/>
              </a:rPr>
              <a:t>ng của từng nhóm nghề.</a:t>
            </a:r>
            <a:endParaRPr lang="en-US" altLang="en-US" sz="3200">
              <a:latin typeface="Times New Roman" panose="02020603050405020304" charset="0"/>
              <a:cs typeface="Times New Roman" panose="0202060305040502030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D6DFCC"/>
        </a:solidFill>
        <a:effectLst/>
      </p:bgPr>
    </p:bg>
    <p:spTree>
      <p:nvGrpSpPr>
        <p:cNvPr id="1" name=""/>
        <p:cNvGrpSpPr/>
        <p:nvPr/>
      </p:nvGrpSpPr>
      <p:grpSpPr>
        <a:xfrm>
          <a:off x="0" y="0"/>
          <a:ext cx="0" cy="0"/>
          <a:chOff x="0" y="0"/>
          <a:chExt cx="0" cy="0"/>
        </a:xfrm>
      </p:grpSpPr>
      <p:grpSp>
        <p:nvGrpSpPr>
          <p:cNvPr id="2" name="Group 2"/>
          <p:cNvGrpSpPr/>
          <p:nvPr/>
        </p:nvGrpSpPr>
        <p:grpSpPr>
          <a:xfrm rot="0">
            <a:off x="1028700" y="1095375"/>
            <a:ext cx="16221710" cy="8229600"/>
            <a:chOff x="0" y="0"/>
            <a:chExt cx="59024347" cy="61454530"/>
          </a:xfrm>
        </p:grpSpPr>
        <p:sp>
          <p:nvSpPr>
            <p:cNvPr id="3" name="Freeform 3"/>
            <p:cNvSpPr/>
            <p:nvPr/>
          </p:nvSpPr>
          <p:spPr>
            <a:xfrm>
              <a:off x="72390" y="72390"/>
              <a:ext cx="58879565" cy="61309749"/>
            </a:xfrm>
            <a:custGeom>
              <a:avLst/>
              <a:gdLst/>
              <a:ahLst/>
              <a:cxnLst/>
              <a:rect l="l" t="t" r="r" b="b"/>
              <a:pathLst>
                <a:path w="58879565" h="61309749">
                  <a:moveTo>
                    <a:pt x="0" y="0"/>
                  </a:moveTo>
                  <a:lnTo>
                    <a:pt x="58879565" y="0"/>
                  </a:lnTo>
                  <a:lnTo>
                    <a:pt x="58879565" y="61309749"/>
                  </a:lnTo>
                  <a:lnTo>
                    <a:pt x="0" y="61309749"/>
                  </a:lnTo>
                  <a:lnTo>
                    <a:pt x="0" y="0"/>
                  </a:lnTo>
                  <a:close/>
                </a:path>
              </a:pathLst>
            </a:custGeom>
            <a:solidFill>
              <a:srgbClr val="FFF5ED"/>
            </a:solidFill>
          </p:spPr>
        </p:sp>
        <p:sp>
          <p:nvSpPr>
            <p:cNvPr id="4" name="Freeform 4"/>
            <p:cNvSpPr/>
            <p:nvPr/>
          </p:nvSpPr>
          <p:spPr>
            <a:xfrm>
              <a:off x="0" y="0"/>
              <a:ext cx="59024348" cy="61454531"/>
            </a:xfrm>
            <a:custGeom>
              <a:avLst/>
              <a:gdLst/>
              <a:ahLst/>
              <a:cxnLst/>
              <a:rect l="l" t="t" r="r" b="b"/>
              <a:pathLst>
                <a:path w="59024348" h="61454531">
                  <a:moveTo>
                    <a:pt x="58879569" y="61309752"/>
                  </a:moveTo>
                  <a:lnTo>
                    <a:pt x="59024348" y="61309752"/>
                  </a:lnTo>
                  <a:lnTo>
                    <a:pt x="59024348" y="61454531"/>
                  </a:lnTo>
                  <a:lnTo>
                    <a:pt x="58879569" y="61454531"/>
                  </a:lnTo>
                  <a:lnTo>
                    <a:pt x="58879569" y="61309752"/>
                  </a:lnTo>
                  <a:close/>
                  <a:moveTo>
                    <a:pt x="0" y="144780"/>
                  </a:moveTo>
                  <a:lnTo>
                    <a:pt x="144780" y="144780"/>
                  </a:lnTo>
                  <a:lnTo>
                    <a:pt x="144780" y="61309752"/>
                  </a:lnTo>
                  <a:lnTo>
                    <a:pt x="0" y="61309752"/>
                  </a:lnTo>
                  <a:lnTo>
                    <a:pt x="0" y="144780"/>
                  </a:lnTo>
                  <a:close/>
                  <a:moveTo>
                    <a:pt x="0" y="61309752"/>
                  </a:moveTo>
                  <a:lnTo>
                    <a:pt x="144780" y="61309752"/>
                  </a:lnTo>
                  <a:lnTo>
                    <a:pt x="144780" y="61454531"/>
                  </a:lnTo>
                  <a:lnTo>
                    <a:pt x="0" y="61454531"/>
                  </a:lnTo>
                  <a:lnTo>
                    <a:pt x="0" y="61309752"/>
                  </a:lnTo>
                  <a:close/>
                  <a:moveTo>
                    <a:pt x="58879569" y="144780"/>
                  </a:moveTo>
                  <a:lnTo>
                    <a:pt x="59024348" y="144780"/>
                  </a:lnTo>
                  <a:lnTo>
                    <a:pt x="59024348" y="61309752"/>
                  </a:lnTo>
                  <a:lnTo>
                    <a:pt x="58879569" y="61309752"/>
                  </a:lnTo>
                  <a:lnTo>
                    <a:pt x="58879569" y="144780"/>
                  </a:lnTo>
                  <a:close/>
                  <a:moveTo>
                    <a:pt x="144780" y="61309752"/>
                  </a:moveTo>
                  <a:lnTo>
                    <a:pt x="58879569" y="61309752"/>
                  </a:lnTo>
                  <a:lnTo>
                    <a:pt x="58879569" y="61454531"/>
                  </a:lnTo>
                  <a:lnTo>
                    <a:pt x="144780" y="61454531"/>
                  </a:lnTo>
                  <a:lnTo>
                    <a:pt x="144780" y="61309752"/>
                  </a:lnTo>
                  <a:close/>
                  <a:moveTo>
                    <a:pt x="58879569" y="0"/>
                  </a:moveTo>
                  <a:lnTo>
                    <a:pt x="59024348" y="0"/>
                  </a:lnTo>
                  <a:lnTo>
                    <a:pt x="59024348" y="144780"/>
                  </a:lnTo>
                  <a:lnTo>
                    <a:pt x="58879569" y="144780"/>
                  </a:lnTo>
                  <a:lnTo>
                    <a:pt x="58879569" y="0"/>
                  </a:lnTo>
                  <a:close/>
                  <a:moveTo>
                    <a:pt x="0" y="0"/>
                  </a:moveTo>
                  <a:lnTo>
                    <a:pt x="144780" y="0"/>
                  </a:lnTo>
                  <a:lnTo>
                    <a:pt x="144780" y="144780"/>
                  </a:lnTo>
                  <a:lnTo>
                    <a:pt x="0" y="144780"/>
                  </a:lnTo>
                  <a:lnTo>
                    <a:pt x="0" y="0"/>
                  </a:lnTo>
                  <a:close/>
                  <a:moveTo>
                    <a:pt x="144780" y="0"/>
                  </a:moveTo>
                  <a:lnTo>
                    <a:pt x="58879569" y="0"/>
                  </a:lnTo>
                  <a:lnTo>
                    <a:pt x="58879569" y="144780"/>
                  </a:lnTo>
                  <a:lnTo>
                    <a:pt x="144780" y="144780"/>
                  </a:lnTo>
                  <a:lnTo>
                    <a:pt x="144780" y="0"/>
                  </a:lnTo>
                  <a:close/>
                </a:path>
              </a:pathLst>
            </a:custGeom>
            <a:solidFill>
              <a:srgbClr val="000000"/>
            </a:solidFill>
          </p:spPr>
        </p:sp>
      </p:grpSp>
      <p:pic>
        <p:nvPicPr>
          <p:cNvPr id="16" name="Picture 15"/>
          <p:cNvPicPr>
            <a:picLocks noChangeAspect="1"/>
          </p:cNvPicPr>
          <p:nvPr/>
        </p:nvPicPr>
        <p:blipFill>
          <a:blip r:embed="rId1"/>
          <a:stretch>
            <a:fillRect/>
          </a:stretch>
        </p:blipFill>
        <p:spPr>
          <a:xfrm>
            <a:off x="2438400" y="2781300"/>
            <a:ext cx="13265150" cy="6381115"/>
          </a:xfrm>
          <a:prstGeom prst="rect">
            <a:avLst/>
          </a:prstGeom>
        </p:spPr>
      </p:pic>
      <p:sp>
        <p:nvSpPr>
          <p:cNvPr id="17" name="Text Box 16"/>
          <p:cNvSpPr txBox="1"/>
          <p:nvPr/>
        </p:nvSpPr>
        <p:spPr>
          <a:xfrm>
            <a:off x="1000125" y="1630680"/>
            <a:ext cx="16230600" cy="1198880"/>
          </a:xfrm>
          <a:prstGeom prst="rect">
            <a:avLst/>
          </a:prstGeom>
          <a:noFill/>
        </p:spPr>
        <p:txBody>
          <a:bodyPr wrap="square" rtlCol="0">
            <a:spAutoFit/>
          </a:bodyPr>
          <a:p>
            <a:pPr algn="ctr"/>
            <a:r>
              <a:rPr lang="en-US" altLang="en-US" sz="3600">
                <a:latin typeface="Times New Roman" panose="02020603050405020304" charset="0"/>
                <a:cs typeface="Times New Roman" panose="02020603050405020304" charset="0"/>
              </a:rPr>
              <a:t>Biểu </a:t>
            </a:r>
            <a:r>
              <a:rPr lang="en-US" altLang="en-US" sz="3600">
                <a:latin typeface="Times New Roman" panose="02020603050405020304" charset="0"/>
                <a:cs typeface="Times New Roman" panose="02020603050405020304" charset="0"/>
              </a:rPr>
              <a:t>đ</a:t>
            </a:r>
            <a:r>
              <a:rPr lang="en-US" altLang="en-US" sz="3600">
                <a:latin typeface="Times New Roman" panose="02020603050405020304" charset="0"/>
                <a:cs typeface="Times New Roman" panose="02020603050405020304" charset="0"/>
              </a:rPr>
              <a:t>ồ so sánh số l</a:t>
            </a:r>
            <a:r>
              <a:rPr lang="en-US" altLang="en-US" sz="3600">
                <a:latin typeface="Times New Roman" panose="02020603050405020304" charset="0"/>
                <a:cs typeface="Times New Roman" panose="02020603050405020304" charset="0"/>
              </a:rPr>
              <a:t>ư</a:t>
            </a:r>
            <a:r>
              <a:rPr lang="en-US" altLang="en-US" sz="3600">
                <a:latin typeface="Times New Roman" panose="02020603050405020304" charset="0"/>
                <a:cs typeface="Times New Roman" panose="02020603050405020304" charset="0"/>
              </a:rPr>
              <a:t>ợng nhóm nghề thực tế và nhóm nghề dự </a:t>
            </a:r>
            <a:r>
              <a:rPr lang="en-US" altLang="en-US" sz="3600">
                <a:latin typeface="Times New Roman" panose="02020603050405020304" charset="0"/>
                <a:cs typeface="Times New Roman" panose="02020603050405020304" charset="0"/>
              </a:rPr>
              <a:t>đ</a:t>
            </a:r>
            <a:r>
              <a:rPr lang="en-US" altLang="en-US" sz="3600">
                <a:latin typeface="Times New Roman" panose="02020603050405020304" charset="0"/>
                <a:cs typeface="Times New Roman" panose="02020603050405020304" charset="0"/>
              </a:rPr>
              <a:t>oán bởi mô hình Random Forest</a:t>
            </a:r>
            <a:endParaRPr lang="en-US" altLang="en-US" sz="3600">
              <a:latin typeface="Times New Roman" panose="02020603050405020304" charset="0"/>
              <a:cs typeface="Times New Roman" panose="0202060305040502030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5ED"/>
        </a:solidFill>
        <a:effectLst/>
      </p:bgPr>
    </p:bg>
    <p:spTree>
      <p:nvGrpSpPr>
        <p:cNvPr id="1" name=""/>
        <p:cNvGrpSpPr/>
        <p:nvPr/>
      </p:nvGrpSpPr>
      <p:grpSpPr>
        <a:xfrm>
          <a:off x="0" y="0"/>
          <a:ext cx="0" cy="0"/>
          <a:chOff x="0" y="0"/>
          <a:chExt cx="0" cy="0"/>
        </a:xfrm>
      </p:grpSpPr>
      <p:pic>
        <p:nvPicPr>
          <p:cNvPr id="48" name="Picture 47"/>
          <p:cNvPicPr>
            <a:picLocks noChangeAspect="1"/>
          </p:cNvPicPr>
          <p:nvPr/>
        </p:nvPicPr>
        <p:blipFill>
          <a:blip r:embed="rId1"/>
          <a:stretch>
            <a:fillRect/>
          </a:stretch>
        </p:blipFill>
        <p:spPr>
          <a:xfrm>
            <a:off x="12039600" y="1485900"/>
            <a:ext cx="5855335" cy="7060565"/>
          </a:xfrm>
          <a:prstGeom prst="rect">
            <a:avLst/>
          </a:prstGeom>
        </p:spPr>
      </p:pic>
      <p:sp>
        <p:nvSpPr>
          <p:cNvPr id="49" name="Text Box 48"/>
          <p:cNvSpPr txBox="1"/>
          <p:nvPr/>
        </p:nvSpPr>
        <p:spPr>
          <a:xfrm>
            <a:off x="762000" y="342900"/>
            <a:ext cx="15994380" cy="521970"/>
          </a:xfrm>
          <a:prstGeom prst="rect">
            <a:avLst/>
          </a:prstGeom>
          <a:noFill/>
        </p:spPr>
        <p:txBody>
          <a:bodyPr wrap="square" rtlCol="0">
            <a:spAutoFit/>
          </a:bodyPr>
          <a:p>
            <a:r>
              <a:rPr lang="en-US" altLang="en-US" sz="2800" b="1">
                <a:latin typeface="Times New Roman" panose="02020603050405020304" charset="0"/>
                <a:cs typeface="Times New Roman" panose="02020603050405020304" charset="0"/>
              </a:rPr>
              <a:t>Câu 2: các công ty/vị trí CNTT thành những nhóm nghề nghiệp nào dựa trên kỹ nă</a:t>
            </a:r>
            <a:r>
              <a:rPr lang="en-US" altLang="en-US" sz="2800" b="1">
                <a:latin typeface="Times New Roman" panose="02020603050405020304" charset="0"/>
                <a:cs typeface="Times New Roman" panose="02020603050405020304" charset="0"/>
              </a:rPr>
              <a:t>ng yêu cầu?</a:t>
            </a:r>
            <a:endParaRPr lang="en-US" altLang="en-US" sz="2800" b="1">
              <a:latin typeface="Times New Roman" panose="02020603050405020304" charset="0"/>
              <a:cs typeface="Times New Roman" panose="02020603050405020304" charset="0"/>
            </a:endParaRPr>
          </a:p>
        </p:txBody>
      </p:sp>
      <p:sp>
        <p:nvSpPr>
          <p:cNvPr id="50" name="Text Box 49"/>
          <p:cNvSpPr txBox="1"/>
          <p:nvPr/>
        </p:nvSpPr>
        <p:spPr>
          <a:xfrm>
            <a:off x="990600" y="1028700"/>
            <a:ext cx="10074275" cy="6366510"/>
          </a:xfrm>
          <a:prstGeom prst="rect">
            <a:avLst/>
          </a:prstGeom>
        </p:spPr>
        <p:txBody>
          <a:bodyPr wrap="square">
            <a:noAutofit/>
          </a:bodyPr>
          <a:p>
            <a:pPr algn="just">
              <a:spcAft>
                <a:spcPct val="60000"/>
              </a:spcAft>
            </a:pPr>
            <a:r>
              <a:rPr sz="3200" b="1">
                <a:latin typeface="Times New Roman" panose="02020603050405020304" charset="0"/>
                <a:cs typeface="Times New Roman" panose="02020603050405020304" charset="0"/>
              </a:rPr>
              <a:t>Kết quả phân cụm vị trí tuyển dụng CNTT</a:t>
            </a:r>
            <a:endParaRPr sz="3200" b="1">
              <a:latin typeface="Times New Roman" panose="02020603050405020304" charset="0"/>
              <a:cs typeface="Times New Roman" panose="02020603050405020304" charset="0"/>
            </a:endParaRPr>
          </a:p>
          <a:p>
            <a:pPr algn="just">
              <a:buFont typeface="Arial" panose="020B0604020202020204"/>
              <a:buChar char="•"/>
            </a:pPr>
            <a:r>
              <a:rPr sz="2400">
                <a:latin typeface="Times New Roman" panose="02020603050405020304" charset="0"/>
                <a:cs typeface="Times New Roman" panose="02020603050405020304" charset="0"/>
              </a:rPr>
              <a:t> Kết quả phân cụm cho thấy nhóm Frontend chiếm số lượng lớn nhất với 2037 vị trí, trong khi nhóm Backend chỉ có 4 vị trí. </a:t>
            </a:r>
            <a:endParaRPr sz="2400">
              <a:latin typeface="Times New Roman" panose="02020603050405020304" charset="0"/>
              <a:cs typeface="Times New Roman" panose="02020603050405020304" charset="0"/>
            </a:endParaRPr>
          </a:p>
          <a:p>
            <a:pPr algn="just">
              <a:buFont typeface="Arial" panose="020B0604020202020204"/>
              <a:buChar char="•"/>
            </a:pPr>
            <a:r>
              <a:rPr sz="2400">
                <a:latin typeface="Times New Roman" panose="02020603050405020304" charset="0"/>
                <a:cs typeface="Times New Roman" panose="02020603050405020304" charset="0"/>
              </a:rPr>
              <a:t> Các kỹ năng xuất hiện nhiều nhất trong cụm lớn gồm Python, Java, ReactJS, MySQL, PHP, MongoDB và NodeJS. </a:t>
            </a:r>
            <a:endParaRPr sz="2400">
              <a:latin typeface="Times New Roman" panose="02020603050405020304" charset="0"/>
              <a:cs typeface="Times New Roman" panose="02020603050405020304" charset="0"/>
            </a:endParaRPr>
          </a:p>
          <a:p>
            <a:pPr algn="just">
              <a:buFont typeface="Arial" panose="020B0604020202020204"/>
              <a:buChar char="•"/>
            </a:pPr>
            <a:r>
              <a:rPr sz="2400">
                <a:latin typeface="Times New Roman" panose="02020603050405020304" charset="0"/>
                <a:cs typeface="Times New Roman" panose="02020603050405020304" charset="0"/>
              </a:rPr>
              <a:t> Điều này cho thấy phần lớn các tin tuyển dụng trong bộ dữ liệu có đặc điểm kỹ năng tương đồng và được thuật toán gom vào cùng một nhóm. </a:t>
            </a:r>
            <a:endParaRPr sz="2400">
              <a:latin typeface="Times New Roman" panose="02020603050405020304" charset="0"/>
              <a:cs typeface="Times New Roman" panose="02020603050405020304" charset="0"/>
            </a:endParaRPr>
          </a:p>
          <a:p>
            <a:pPr algn="just">
              <a:buFont typeface="Arial" panose="020B0604020202020204"/>
              <a:buChar char="•"/>
            </a:pPr>
            <a:r>
              <a:rPr sz="2400">
                <a:latin typeface="Times New Roman" panose="02020603050405020304" charset="0"/>
                <a:cs typeface="Times New Roman" panose="02020603050405020304" charset="0"/>
              </a:rPr>
              <a:t> Sự chênh lệch rất lớn giữa các cụm cho thấy dữ liệu chưa được phân tách rõ ràng giữa các nhóm nghề nghiệp.</a:t>
            </a:r>
            <a:endParaRPr sz="2400">
              <a:latin typeface="Times New Roman" panose="02020603050405020304" charset="0"/>
              <a:cs typeface="Times New Roman" panose="02020603050405020304" charset="0"/>
            </a:endParaRPr>
          </a:p>
        </p:txBody>
      </p:sp>
      <p:pic>
        <p:nvPicPr>
          <p:cNvPr id="64" name="Picture 63"/>
          <p:cNvPicPr>
            <a:picLocks noChangeAspect="1"/>
          </p:cNvPicPr>
          <p:nvPr/>
        </p:nvPicPr>
        <p:blipFill>
          <a:blip r:embed="rId2"/>
          <a:stretch>
            <a:fillRect/>
          </a:stretch>
        </p:blipFill>
        <p:spPr>
          <a:xfrm>
            <a:off x="2133600" y="4991100"/>
            <a:ext cx="8705850" cy="470979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57095" y="-4381395"/>
            <a:ext cx="19258069" cy="19258069"/>
          </a:xfrm>
          <a:custGeom>
            <a:avLst/>
            <a:gdLst/>
            <a:ahLst/>
            <a:cxnLst/>
            <a:rect l="l" t="t" r="r" b="b"/>
            <a:pathLst>
              <a:path w="19258069" h="19258069">
                <a:moveTo>
                  <a:pt x="0" y="0"/>
                </a:moveTo>
                <a:lnTo>
                  <a:pt x="19258070" y="0"/>
                </a:lnTo>
                <a:lnTo>
                  <a:pt x="19258070" y="19258070"/>
                </a:lnTo>
                <a:lnTo>
                  <a:pt x="0" y="19258070"/>
                </a:lnTo>
                <a:lnTo>
                  <a:pt x="0" y="0"/>
                </a:lnTo>
                <a:close/>
              </a:path>
            </a:pathLst>
          </a:custGeom>
          <a:blipFill>
            <a:blip r:embed="rId1">
              <a:alphaModFix amt="4000"/>
              <a:extLst>
                <a:ext uri="{96DAC541-7B7A-43D3-8B79-37D633B846F1}">
                  <asvg:svgBlip xmlns:asvg="http://schemas.microsoft.com/office/drawing/2016/SVG/main" r:embed="rId2"/>
                </a:ext>
              </a:extLst>
            </a:blip>
            <a:stretch>
              <a:fillRect/>
            </a:stretch>
          </a:blipFill>
        </p:spPr>
      </p:sp>
      <p:sp>
        <p:nvSpPr>
          <p:cNvPr id="4" name="TextBox 4"/>
          <p:cNvSpPr txBox="1"/>
          <p:nvPr/>
        </p:nvSpPr>
        <p:spPr>
          <a:xfrm>
            <a:off x="933983" y="3152569"/>
            <a:ext cx="16420035" cy="3874815"/>
          </a:xfrm>
          <a:prstGeom prst="rect">
            <a:avLst/>
          </a:prstGeom>
        </p:spPr>
        <p:txBody>
          <a:bodyPr lIns="0" tIns="0" rIns="0" bIns="0" rtlCol="0" anchor="t">
            <a:spAutoFit/>
          </a:bodyPr>
          <a:lstStyle/>
          <a:p>
            <a:pPr algn="ctr">
              <a:lnSpc>
                <a:spcPts val="27110"/>
              </a:lnSpc>
            </a:pPr>
            <a:r>
              <a:rPr lang="en-US" sz="19360" b="1">
                <a:solidFill>
                  <a:srgbClr val="343434"/>
                </a:solidFill>
                <a:latin typeface="Cooper Hewitt Bold"/>
                <a:ea typeface="Cooper Hewitt Bold"/>
                <a:cs typeface="Cooper Hewitt Bold"/>
                <a:sym typeface="Cooper Hewitt Bold"/>
              </a:rPr>
              <a:t>THANK YOU</a:t>
            </a:r>
            <a:endParaRPr lang="en-US" sz="19360" b="1">
              <a:solidFill>
                <a:srgbClr val="343434"/>
              </a:solidFill>
              <a:latin typeface="Cooper Hewitt Bold"/>
              <a:ea typeface="Cooper Hewitt Bold"/>
              <a:cs typeface="Cooper Hewitt Bold"/>
              <a:sym typeface="Cooper Hewitt Bold"/>
            </a:endParaRPr>
          </a:p>
        </p:txBody>
      </p:sp>
      <p:pic>
        <p:nvPicPr>
          <p:cNvPr id="22" name="Picture 21"/>
          <p:cNvPicPr>
            <a:picLocks noChangeAspect="1"/>
          </p:cNvPicPr>
          <p:nvPr/>
        </p:nvPicPr>
        <p:blipFill>
          <a:blip r:embed="rId3"/>
          <a:stretch>
            <a:fillRect/>
          </a:stretch>
        </p:blipFill>
        <p:spPr>
          <a:xfrm>
            <a:off x="933450" y="3074670"/>
            <a:ext cx="16421100" cy="4137660"/>
          </a:xfrm>
          <a:prstGeom prst="rect">
            <a:avLst/>
          </a:prstGeom>
        </p:spPr>
      </p:pic>
      <p:pic>
        <p:nvPicPr>
          <p:cNvPr id="23" name="Picture 22"/>
          <p:cNvPicPr>
            <a:picLocks noChangeAspect="1"/>
          </p:cNvPicPr>
          <p:nvPr/>
        </p:nvPicPr>
        <p:blipFill>
          <a:blip r:embed="rId4"/>
          <a:stretch>
            <a:fillRect/>
          </a:stretch>
        </p:blipFill>
        <p:spPr>
          <a:xfrm>
            <a:off x="0" y="12700"/>
            <a:ext cx="18288000" cy="10261600"/>
          </a:xfrm>
          <a:prstGeom prst="rect">
            <a:avLst/>
          </a:prstGeom>
        </p:spPr>
      </p:pic>
      <p:sp>
        <p:nvSpPr>
          <p:cNvPr id="24" name="Freeform 2"/>
          <p:cNvSpPr/>
          <p:nvPr/>
        </p:nvSpPr>
        <p:spPr>
          <a:xfrm>
            <a:off x="-485035" y="-4485535"/>
            <a:ext cx="19258069" cy="19258069"/>
          </a:xfrm>
          <a:custGeom>
            <a:avLst/>
            <a:gdLst/>
            <a:ahLst/>
            <a:cxnLst/>
            <a:rect l="l" t="t" r="r" b="b"/>
            <a:pathLst>
              <a:path w="19258069" h="19258069">
                <a:moveTo>
                  <a:pt x="0" y="0"/>
                </a:moveTo>
                <a:lnTo>
                  <a:pt x="19258070" y="0"/>
                </a:lnTo>
                <a:lnTo>
                  <a:pt x="19258070" y="19258070"/>
                </a:lnTo>
                <a:lnTo>
                  <a:pt x="0" y="19258070"/>
                </a:lnTo>
                <a:lnTo>
                  <a:pt x="0" y="0"/>
                </a:lnTo>
                <a:close/>
              </a:path>
            </a:pathLst>
          </a:custGeom>
          <a:blipFill>
            <a:blip r:embed="rId1">
              <a:alphaModFix amt="4000"/>
              <a:extLst>
                <a:ext uri="{96DAC541-7B7A-43D3-8B79-37D633B846F1}">
                  <asvg:svgBlip xmlns:asvg="http://schemas.microsoft.com/office/drawing/2016/SVG/main" r:embed="rId2"/>
                </a:ext>
              </a:extLst>
            </a:blip>
            <a:stretch>
              <a:fillRect/>
            </a:stretch>
          </a:blipFill>
        </p:spPr>
      </p:sp>
      <p:sp>
        <p:nvSpPr>
          <p:cNvPr id="25" name="Freeform 10"/>
          <p:cNvSpPr/>
          <p:nvPr/>
        </p:nvSpPr>
        <p:spPr>
          <a:xfrm>
            <a:off x="228364" y="7734237"/>
            <a:ext cx="4202073" cy="2521244"/>
          </a:xfrm>
          <a:custGeom>
            <a:avLst/>
            <a:gdLst/>
            <a:ahLst/>
            <a:cxnLst/>
            <a:rect l="l" t="t" r="r" b="b"/>
            <a:pathLst>
              <a:path w="4202073" h="2521244">
                <a:moveTo>
                  <a:pt x="0" y="0"/>
                </a:moveTo>
                <a:lnTo>
                  <a:pt x="4202074" y="0"/>
                </a:lnTo>
                <a:lnTo>
                  <a:pt x="4202074" y="2521245"/>
                </a:lnTo>
                <a:lnTo>
                  <a:pt x="0" y="2521245"/>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sp>
      <p:sp>
        <p:nvSpPr>
          <p:cNvPr id="26" name="Freeform 8"/>
          <p:cNvSpPr/>
          <p:nvPr/>
        </p:nvSpPr>
        <p:spPr>
          <a:xfrm rot="-1354446">
            <a:off x="15936451" y="464163"/>
            <a:ext cx="1497033" cy="2339114"/>
          </a:xfrm>
          <a:custGeom>
            <a:avLst/>
            <a:gdLst/>
            <a:ahLst/>
            <a:cxnLst/>
            <a:rect l="l" t="t" r="r" b="b"/>
            <a:pathLst>
              <a:path w="1497033" h="2339114">
                <a:moveTo>
                  <a:pt x="0" y="0"/>
                </a:moveTo>
                <a:lnTo>
                  <a:pt x="1497033" y="0"/>
                </a:lnTo>
                <a:lnTo>
                  <a:pt x="1497033" y="2339115"/>
                </a:lnTo>
                <a:lnTo>
                  <a:pt x="0" y="2339115"/>
                </a:lnTo>
                <a:lnTo>
                  <a:pt x="0" y="0"/>
                </a:lnTo>
                <a:close/>
              </a:path>
            </a:pathLst>
          </a:custGeom>
          <a:blipFill>
            <a:blip r:embed="rId7">
              <a:extLst>
                <a:ext uri="{96DAC541-7B7A-43D3-8B79-37D633B846F1}">
                  <asvg:svgBlip xmlns:asvg="http://schemas.microsoft.com/office/drawing/2016/SVG/main" r:embed="rId8"/>
                </a:ext>
              </a:extLst>
            </a:blip>
            <a:stretch>
              <a:fillRect/>
            </a:stretch>
          </a:blipFill>
          <a:ln cap="sq">
            <a:noFill/>
            <a:prstDash val="solid"/>
            <a:miter/>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7067</Words>
  <Application>WPS Presentation</Application>
  <PresentationFormat>On-screen Show (4:3)</PresentationFormat>
  <Paragraphs>98</Paragraphs>
  <Slides>16</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16</vt:i4>
      </vt:variant>
    </vt:vector>
  </HeadingPairs>
  <TitlesOfParts>
    <vt:vector size="29" baseType="lpstr">
      <vt:lpstr>Arial</vt:lpstr>
      <vt:lpstr>SimSun</vt:lpstr>
      <vt:lpstr>Wingdings</vt:lpstr>
      <vt:lpstr>Times New Roman</vt:lpstr>
      <vt:lpstr>Calibri</vt:lpstr>
      <vt:lpstr>Microsoft YaHei</vt:lpstr>
      <vt:lpstr>Arial Unicode MS</vt:lpstr>
      <vt:lpstr>Arial</vt:lpstr>
      <vt:lpstr>Cooper Hewitt Bold</vt:lpstr>
      <vt:lpstr>Segoe Print</vt:lpstr>
      <vt:lpstr>DM Sans Bold</vt:lpstr>
      <vt:lpstr>DM Sans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Tú Nguyễn đình tú</cp:lastModifiedBy>
  <cp:revision>11</cp:revision>
  <dcterms:created xsi:type="dcterms:W3CDTF">2006-08-16T00:00:00Z</dcterms:created>
  <dcterms:modified xsi:type="dcterms:W3CDTF">2026-06-20T08:52:29Z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DF5DF910BF04449C9BE15D458DE44BD9_12</vt:lpwstr>
  </property>
</Properties>
</file>